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6.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03" autoAdjust="0"/>
    <p:restoredTop sz="94610"/>
  </p:normalViewPr>
  <p:slideViewPr>
    <p:cSldViewPr snapToGrid="0" snapToObjects="1">
      <p:cViewPr varScale="1">
        <p:scale>
          <a:sx n="140" d="100"/>
          <a:sy n="140" d="100"/>
        </p:scale>
        <p:origin x="96"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CDSL</c:v>
                </c:pt>
              </c:strCache>
            </c:strRef>
          </c:tx>
          <c:spPr>
            <a:solidFill>
              <a:srgbClr val="1F4E79"/>
            </a:solidFill>
            <a:effectLst/>
          </c:spPr>
          <c:invertIfNegative val="0"/>
          <c:dLbls>
            <c:numFmt formatCode="#,##0" sourceLinked="0"/>
            <c:spPr>
              <a:noFill/>
              <a:ln>
                <a:noFill/>
              </a:ln>
              <a:effectLst/>
            </c:spPr>
            <c:txPr>
              <a:bodyPr/>
              <a:lstStyle/>
              <a:p>
                <a:pPr>
                  <a:defRPr sz="13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Revenue</c:v>
                </c:pt>
                <c:pt idx="1">
                  <c:v>EBITDA</c:v>
                </c:pt>
                <c:pt idx="2">
                  <c:v>Net profit</c:v>
                </c:pt>
              </c:strCache>
            </c:strRef>
          </c:cat>
          <c:val>
            <c:numRef>
              <c:f>Sheet1!$B$2:$B$4</c:f>
              <c:numCache>
                <c:formatCode>General</c:formatCode>
                <c:ptCount val="3"/>
                <c:pt idx="0">
                  <c:v>960.5</c:v>
                </c:pt>
                <c:pt idx="1">
                  <c:v>657.9</c:v>
                </c:pt>
                <c:pt idx="2">
                  <c:v>468.2</c:v>
                </c:pt>
              </c:numCache>
            </c:numRef>
          </c:val>
          <c:extLst>
            <c:ext xmlns:c16="http://schemas.microsoft.com/office/drawing/2014/chart" uri="{C3380CC4-5D6E-409C-BE32-E72D297353CC}">
              <c16:uniqueId val="{00000000-6668-4FA2-A31E-C50D2F3065F5}"/>
            </c:ext>
          </c:extLst>
        </c:ser>
        <c:ser>
          <c:idx val="1"/>
          <c:order val="1"/>
          <c:tx>
            <c:strRef>
              <c:f>Sheet1!$C$1</c:f>
              <c:strCache>
                <c:ptCount val="1"/>
                <c:pt idx="0">
                  <c:v>NSDL</c:v>
                </c:pt>
              </c:strCache>
            </c:strRef>
          </c:tx>
          <c:spPr>
            <a:solidFill>
              <a:srgbClr val="2E75B6"/>
            </a:solidFill>
            <a:effectLst/>
          </c:spPr>
          <c:invertIfNegative val="0"/>
          <c:dLbls>
            <c:numFmt formatCode="#,##0" sourceLinked="0"/>
            <c:spPr>
              <a:noFill/>
              <a:ln>
                <a:noFill/>
              </a:ln>
              <a:effectLst/>
            </c:spPr>
            <c:txPr>
              <a:bodyPr/>
              <a:lstStyle/>
              <a:p>
                <a:pPr>
                  <a:defRPr sz="13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Revenue</c:v>
                </c:pt>
                <c:pt idx="1">
                  <c:v>EBITDA</c:v>
                </c:pt>
                <c:pt idx="2">
                  <c:v>Net profit</c:v>
                </c:pt>
              </c:strCache>
            </c:strRef>
          </c:cat>
          <c:val>
            <c:numRef>
              <c:f>Sheet1!$C$2:$C$4</c:f>
              <c:numCache>
                <c:formatCode>General</c:formatCode>
                <c:ptCount val="3"/>
                <c:pt idx="0">
                  <c:v>704.7</c:v>
                </c:pt>
                <c:pt idx="1">
                  <c:v>508</c:v>
                </c:pt>
                <c:pt idx="2">
                  <c:v>319.39999999999998</c:v>
                </c:pt>
              </c:numCache>
            </c:numRef>
          </c:val>
          <c:extLst>
            <c:ext xmlns:c16="http://schemas.microsoft.com/office/drawing/2014/chart" uri="{C3380CC4-5D6E-409C-BE32-E72D297353CC}">
              <c16:uniqueId val="{00000001-6668-4FA2-A31E-C50D2F3065F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2D2D2D"/>
                </a:solidFill>
                <a:latin typeface="Arial"/>
              </a:defRPr>
            </a:pPr>
            <a:endParaRPr lang="en-US"/>
          </a:p>
        </c:txPr>
        <c:crossAx val="2094734552"/>
        <c:crosses val="autoZero"/>
        <c:auto val="1"/>
        <c:lblAlgn val="ctr"/>
        <c:lblOffset val="100"/>
        <c:noMultiLvlLbl val="1"/>
      </c:catAx>
      <c:valAx>
        <c:axId val="2094734552"/>
        <c:scaling>
          <c:orientation val="minMax"/>
          <c:max val="1200"/>
          <c:min val="0"/>
        </c:scaling>
        <c:delete val="0"/>
        <c:axPos val="l"/>
        <c:majorGridlines>
          <c:spPr>
            <a:ln w="6350" cap="flat">
              <a:solidFill>
                <a:srgbClr val="E2E8F0"/>
              </a:solidFill>
              <a:prstDash val="solid"/>
              <a:round/>
            </a:ln>
          </c:spPr>
        </c:majorGridlines>
        <c:title>
          <c:tx>
            <c:rich>
              <a:bodyPr/>
              <a:lstStyle/>
              <a:p>
                <a:pPr>
                  <a:defRPr sz="1200" b="0" i="0" u="none" strike="noStrike">
                    <a:solidFill>
                      <a:srgbClr val="6B6B6B"/>
                    </a:solidFill>
                    <a:latin typeface="Arial"/>
                  </a:defRPr>
                </a:pPr>
                <a:r>
                  <a:rPr lang="en-IN" sz="1200" b="0" i="0" u="none" strike="noStrike">
                    <a:solidFill>
                      <a:srgbClr val="6B6B6B"/>
                    </a:solidFill>
                    <a:latin typeface="Arial"/>
                  </a:rPr>
                  <a:t>FY26, ₹ crore</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6B6B"/>
                </a:solidFill>
                <a:latin typeface="Arial"/>
              </a:defRPr>
            </a:pPr>
            <a:endParaRPr lang="en-US"/>
          </a:p>
        </c:txPr>
        <c:crossAx val="2094734554"/>
        <c:crosses val="autoZero"/>
        <c:crossBetween val="between"/>
        <c:majorUnit val="300"/>
      </c:valAx>
      <c:spPr>
        <a:noFill/>
        <a:ln>
          <a:noFill/>
        </a:ln>
        <a:effectLst/>
      </c:spPr>
    </c:plotArea>
    <c:legend>
      <c:legendPos val="b"/>
      <c:overlay val="0"/>
      <c:txPr>
        <a:bodyPr/>
        <a:lstStyle/>
        <a:p>
          <a:pPr>
            <a:defRPr sz="1400">
              <a:solidFill>
                <a:srgbClr val="2D2D2D"/>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c:v>
                </c:pt>
              </c:strCache>
            </c:strRef>
          </c:tx>
          <c:spPr>
            <a:solidFill>
              <a:srgbClr val="1F4E79"/>
            </a:solidFill>
            <a:effectLst/>
          </c:spPr>
          <c:invertIfNegative val="0"/>
          <c:dLbls>
            <c:numFmt formatCode="#,##0" sourceLinked="0"/>
            <c:spPr>
              <a:noFill/>
              <a:ln>
                <a:noFill/>
              </a:ln>
              <a:effectLst/>
            </c:spPr>
            <c:txPr>
              <a:bodyPr/>
              <a:lstStyle/>
              <a:p>
                <a:pPr>
                  <a:defRPr sz="11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414.8</c:v>
                </c:pt>
                <c:pt idx="1">
                  <c:v>450.6</c:v>
                </c:pt>
                <c:pt idx="2">
                  <c:v>641</c:v>
                </c:pt>
                <c:pt idx="3">
                  <c:v>848.2</c:v>
                </c:pt>
                <c:pt idx="4">
                  <c:v>960.5</c:v>
                </c:pt>
              </c:numCache>
            </c:numRef>
          </c:val>
          <c:extLst>
            <c:ext xmlns:c16="http://schemas.microsoft.com/office/drawing/2014/chart" uri="{C3380CC4-5D6E-409C-BE32-E72D297353CC}">
              <c16:uniqueId val="{00000000-B1A9-4C93-A12E-34B60B36E509}"/>
            </c:ext>
          </c:extLst>
        </c:ser>
        <c:ser>
          <c:idx val="1"/>
          <c:order val="1"/>
          <c:tx>
            <c:strRef>
              <c:f>Sheet1!$C$1</c:f>
              <c:strCache>
                <c:ptCount val="1"/>
                <c:pt idx="0">
                  <c:v>Net profit</c:v>
                </c:pt>
              </c:strCache>
            </c:strRef>
          </c:tx>
          <c:spPr>
            <a:solidFill>
              <a:srgbClr val="C55A11"/>
            </a:solidFill>
            <a:effectLst/>
          </c:spPr>
          <c:invertIfNegative val="0"/>
          <c:dLbls>
            <c:numFmt formatCode="#,##0" sourceLinked="0"/>
            <c:spPr>
              <a:noFill/>
              <a:ln>
                <a:noFill/>
              </a:ln>
              <a:effectLst/>
            </c:spPr>
            <c:txPr>
              <a:bodyPr/>
              <a:lstStyle/>
              <a:p>
                <a:pPr>
                  <a:defRPr sz="11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Sheet1!$C$2:$C$6</c:f>
              <c:numCache>
                <c:formatCode>General</c:formatCode>
                <c:ptCount val="5"/>
                <c:pt idx="0">
                  <c:v>263.8</c:v>
                </c:pt>
                <c:pt idx="1">
                  <c:v>272.10000000000002</c:v>
                </c:pt>
                <c:pt idx="2">
                  <c:v>363.3</c:v>
                </c:pt>
                <c:pt idx="3">
                  <c:v>462.1</c:v>
                </c:pt>
                <c:pt idx="4">
                  <c:v>468.2</c:v>
                </c:pt>
              </c:numCache>
            </c:numRef>
          </c:val>
          <c:extLst>
            <c:ext xmlns:c16="http://schemas.microsoft.com/office/drawing/2014/chart" uri="{C3380CC4-5D6E-409C-BE32-E72D297353CC}">
              <c16:uniqueId val="{00000001-B1A9-4C93-A12E-34B60B36E509}"/>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2D2D2D"/>
                </a:solidFill>
                <a:latin typeface="Arial"/>
              </a:defRPr>
            </a:pPr>
            <a:endParaRPr lang="en-US"/>
          </a:p>
        </c:txPr>
        <c:crossAx val="2094734552"/>
        <c:crosses val="autoZero"/>
        <c:auto val="1"/>
        <c:lblAlgn val="ctr"/>
        <c:lblOffset val="100"/>
        <c:noMultiLvlLbl val="1"/>
      </c:catAx>
      <c:valAx>
        <c:axId val="2094734552"/>
        <c:scaling>
          <c:orientation val="minMax"/>
          <c:max val="1200"/>
          <c:min val="0"/>
        </c:scaling>
        <c:delete val="0"/>
        <c:axPos val="l"/>
        <c:majorGridlines>
          <c:spPr>
            <a:ln w="6350" cap="flat">
              <a:solidFill>
                <a:srgbClr val="E2E8F0"/>
              </a:solidFill>
              <a:prstDash val="solid"/>
              <a:round/>
            </a:ln>
          </c:spPr>
        </c:majorGridlines>
        <c:title>
          <c:tx>
            <c:rich>
              <a:bodyPr/>
              <a:lstStyle/>
              <a:p>
                <a:pPr>
                  <a:defRPr sz="1200" b="0" i="0" u="none" strike="noStrike">
                    <a:solidFill>
                      <a:srgbClr val="6B6B6B"/>
                    </a:solidFill>
                    <a:latin typeface="Arial"/>
                  </a:defRPr>
                </a:pPr>
                <a:r>
                  <a:rPr lang="en-IN" sz="1200" b="0" i="0" u="none" strike="noStrike">
                    <a:solidFill>
                      <a:srgbClr val="6B6B6B"/>
                    </a:solidFill>
                    <a:latin typeface="Arial"/>
                  </a:rPr>
                  <a:t>₹ crore</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6B6B"/>
                </a:solidFill>
                <a:latin typeface="Arial"/>
              </a:defRPr>
            </a:pPr>
            <a:endParaRPr lang="en-US"/>
          </a:p>
        </c:txPr>
        <c:crossAx val="2094734554"/>
        <c:crosses val="autoZero"/>
        <c:crossBetween val="between"/>
        <c:majorUnit val="300"/>
      </c:valAx>
      <c:spPr>
        <a:noFill/>
        <a:ln>
          <a:noFill/>
        </a:ln>
        <a:effectLst/>
      </c:spPr>
    </c:plotArea>
    <c:legend>
      <c:legendPos val="b"/>
      <c:overlay val="0"/>
      <c:txPr>
        <a:bodyPr/>
        <a:lstStyle/>
        <a:p>
          <a:pPr>
            <a:defRPr sz="1400">
              <a:solidFill>
                <a:srgbClr val="2D2D2D"/>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EBITDA margin</c:v>
                </c:pt>
              </c:strCache>
            </c:strRef>
          </c:tx>
          <c:spPr>
            <a:ln w="38100" cap="flat">
              <a:solidFill>
                <a:srgbClr val="1F4E79"/>
              </a:solidFill>
              <a:prstDash val="solid"/>
              <a:round/>
            </a:ln>
            <a:effectLst/>
          </c:spPr>
          <c:marker>
            <c:symbol val="circle"/>
            <c:size val="9"/>
            <c:spPr>
              <a:solidFill>
                <a:srgbClr val="1F4E79"/>
              </a:solidFill>
              <a:ln w="9525" cap="flat">
                <a:solidFill>
                  <a:srgbClr val="1F4E79"/>
                </a:solidFill>
                <a:prstDash val="solid"/>
                <a:round/>
              </a:ln>
              <a:effectLst/>
            </c:spPr>
          </c:marker>
          <c:dLbls>
            <c:numFmt formatCode="0.0" sourceLinked="0"/>
            <c:spPr>
              <a:noFill/>
              <a:ln>
                <a:noFill/>
              </a:ln>
              <a:effectLst/>
            </c:spPr>
            <c:txPr>
              <a:bodyPr/>
              <a:lstStyle/>
              <a:p>
                <a:pPr>
                  <a:defRPr sz="1300" b="0" i="0" u="none" strike="noStrike">
                    <a:solidFill>
                      <a:srgbClr val="1E293B"/>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83.8</c:v>
                </c:pt>
                <c:pt idx="1">
                  <c:v>80</c:v>
                </c:pt>
                <c:pt idx="2">
                  <c:v>77.099999999999994</c:v>
                </c:pt>
                <c:pt idx="3">
                  <c:v>74.8</c:v>
                </c:pt>
                <c:pt idx="4">
                  <c:v>68.5</c:v>
                </c:pt>
              </c:numCache>
            </c:numRef>
          </c:val>
          <c:smooth val="0"/>
          <c:extLst>
            <c:ext xmlns:c16="http://schemas.microsoft.com/office/drawing/2014/chart" uri="{C3380CC4-5D6E-409C-BE32-E72D297353CC}">
              <c16:uniqueId val="{00000000-A253-426E-812B-DD4723EAF300}"/>
            </c:ext>
          </c:extLst>
        </c:ser>
        <c:ser>
          <c:idx val="1"/>
          <c:order val="1"/>
          <c:tx>
            <c:strRef>
              <c:f>Sheet1!$C$1</c:f>
              <c:strCache>
                <c:ptCount val="1"/>
                <c:pt idx="0">
                  <c:v>Net margin</c:v>
                </c:pt>
              </c:strCache>
            </c:strRef>
          </c:tx>
          <c:spPr>
            <a:ln w="38100" cap="flat">
              <a:solidFill>
                <a:srgbClr val="C55A11"/>
              </a:solidFill>
              <a:prstDash val="solid"/>
              <a:round/>
            </a:ln>
            <a:effectLst/>
          </c:spPr>
          <c:marker>
            <c:symbol val="circle"/>
            <c:size val="9"/>
            <c:spPr>
              <a:solidFill>
                <a:srgbClr val="C55A11"/>
              </a:solidFill>
              <a:ln w="9525" cap="flat">
                <a:solidFill>
                  <a:srgbClr val="C55A11"/>
                </a:solidFill>
                <a:prstDash val="solid"/>
                <a:round/>
              </a:ln>
              <a:effectLst/>
            </c:spPr>
          </c:marker>
          <c:dLbls>
            <c:numFmt formatCode="0.0" sourceLinked="0"/>
            <c:spPr>
              <a:noFill/>
              <a:ln>
                <a:noFill/>
              </a:ln>
              <a:effectLst/>
            </c:spPr>
            <c:txPr>
              <a:bodyPr/>
              <a:lstStyle/>
              <a:p>
                <a:pPr>
                  <a:defRPr sz="1300" b="0" i="0" u="none" strike="noStrike">
                    <a:solidFill>
                      <a:srgbClr val="1E293B"/>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Sheet1!$C$2:$C$6</c:f>
              <c:numCache>
                <c:formatCode>General</c:formatCode>
                <c:ptCount val="5"/>
                <c:pt idx="0">
                  <c:v>63.6</c:v>
                </c:pt>
                <c:pt idx="1">
                  <c:v>60.4</c:v>
                </c:pt>
                <c:pt idx="2">
                  <c:v>56.7</c:v>
                </c:pt>
                <c:pt idx="3">
                  <c:v>54.5</c:v>
                </c:pt>
                <c:pt idx="4">
                  <c:v>48.7</c:v>
                </c:pt>
              </c:numCache>
            </c:numRef>
          </c:val>
          <c:smooth val="0"/>
          <c:extLst>
            <c:ext xmlns:c16="http://schemas.microsoft.com/office/drawing/2014/chart" uri="{C3380CC4-5D6E-409C-BE32-E72D297353CC}">
              <c16:uniqueId val="{00000001-A253-426E-812B-DD4723EAF300}"/>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2D2D2D"/>
                </a:solidFill>
                <a:latin typeface="Arial"/>
              </a:defRPr>
            </a:pPr>
            <a:endParaRPr lang="en-US"/>
          </a:p>
        </c:txPr>
        <c:crossAx val="2094734552"/>
        <c:crosses val="autoZero"/>
        <c:auto val="1"/>
        <c:lblAlgn val="ctr"/>
        <c:lblOffset val="100"/>
        <c:noMultiLvlLbl val="1"/>
      </c:catAx>
      <c:valAx>
        <c:axId val="2094734552"/>
        <c:scaling>
          <c:orientation val="minMax"/>
          <c:max val="95"/>
          <c:min val="40"/>
        </c:scaling>
        <c:delete val="0"/>
        <c:axPos val="l"/>
        <c:majorGridlines>
          <c:spPr>
            <a:ln w="6350" cap="flat">
              <a:solidFill>
                <a:srgbClr val="E2E8F0"/>
              </a:solidFill>
              <a:prstDash val="solid"/>
              <a:round/>
            </a:ln>
          </c:spPr>
        </c:majorGridlines>
        <c:title>
          <c:tx>
            <c:rich>
              <a:bodyPr/>
              <a:lstStyle/>
              <a:p>
                <a:pPr>
                  <a:defRPr sz="1200" b="0" i="0" u="none" strike="noStrike">
                    <a:solidFill>
                      <a:srgbClr val="6B6B6B"/>
                    </a:solidFill>
                    <a:latin typeface="Arial"/>
                  </a:defRPr>
                </a:pPr>
                <a:r>
                  <a:rPr lang="en-IN" sz="1200" b="0" i="0" u="none" strike="noStrike">
                    <a:solidFill>
                      <a:srgbClr val="6B6B6B"/>
                    </a:solidFill>
                    <a:latin typeface="Arial"/>
                  </a:rPr>
                  <a:t>% of revenue</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6B6B"/>
                </a:solidFill>
                <a:latin typeface="Arial"/>
              </a:defRPr>
            </a:pPr>
            <a:endParaRPr lang="en-US"/>
          </a:p>
        </c:txPr>
        <c:crossAx val="2094734554"/>
        <c:crosses val="autoZero"/>
        <c:crossBetween val="between"/>
        <c:majorUnit val="10"/>
      </c:valAx>
      <c:spPr>
        <a:noFill/>
        <a:ln>
          <a:noFill/>
        </a:ln>
        <a:effectLst/>
      </c:spPr>
    </c:plotArea>
    <c:legend>
      <c:legendPos val="b"/>
      <c:overlay val="0"/>
      <c:txPr>
        <a:bodyPr/>
        <a:lstStyle/>
        <a:p>
          <a:pPr>
            <a:defRPr sz="1400">
              <a:solidFill>
                <a:srgbClr val="2D2D2D"/>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FCFF</c:v>
                </c:pt>
              </c:strCache>
            </c:strRef>
          </c:tx>
          <c:spPr>
            <a:solidFill>
              <a:srgbClr val="2E75B6"/>
            </a:solidFill>
            <a:effectLst/>
          </c:spPr>
          <c:invertIfNegative val="0"/>
          <c:dLbls>
            <c:numFmt formatCode="#,##0" sourceLinked="0"/>
            <c:spPr>
              <a:noFill/>
              <a:ln>
                <a:noFill/>
              </a:ln>
              <a:effectLst/>
            </c:spPr>
            <c:txPr>
              <a:bodyPr/>
              <a:lstStyle/>
              <a:p>
                <a:pPr>
                  <a:defRPr sz="13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FY27E</c:v>
                </c:pt>
                <c:pt idx="1">
                  <c:v>FY28E</c:v>
                </c:pt>
                <c:pt idx="2">
                  <c:v>FY29E</c:v>
                </c:pt>
                <c:pt idx="3">
                  <c:v>FY30E</c:v>
                </c:pt>
                <c:pt idx="4">
                  <c:v>FY31E</c:v>
                </c:pt>
              </c:strCache>
            </c:strRef>
          </c:cat>
          <c:val>
            <c:numRef>
              <c:f>Sheet1!$B$2:$B$6</c:f>
              <c:numCache>
                <c:formatCode>General</c:formatCode>
                <c:ptCount val="5"/>
                <c:pt idx="0">
                  <c:v>436.7</c:v>
                </c:pt>
                <c:pt idx="1">
                  <c:v>465.9</c:v>
                </c:pt>
                <c:pt idx="2">
                  <c:v>503.2</c:v>
                </c:pt>
                <c:pt idx="3">
                  <c:v>551</c:v>
                </c:pt>
                <c:pt idx="4">
                  <c:v>612.70000000000005</c:v>
                </c:pt>
              </c:numCache>
            </c:numRef>
          </c:val>
          <c:extLst>
            <c:ext xmlns:c16="http://schemas.microsoft.com/office/drawing/2014/chart" uri="{C3380CC4-5D6E-409C-BE32-E72D297353CC}">
              <c16:uniqueId val="{00000000-96C4-407D-85AC-5D7160095FAB}"/>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2D2D2D"/>
                </a:solidFill>
                <a:latin typeface="Arial"/>
              </a:defRPr>
            </a:pPr>
            <a:endParaRPr lang="en-US"/>
          </a:p>
        </c:txPr>
        <c:crossAx val="2094734552"/>
        <c:crosses val="autoZero"/>
        <c:auto val="1"/>
        <c:lblAlgn val="ctr"/>
        <c:lblOffset val="100"/>
        <c:noMultiLvlLbl val="1"/>
      </c:catAx>
      <c:valAx>
        <c:axId val="2094734552"/>
        <c:scaling>
          <c:orientation val="minMax"/>
          <c:max val="1000"/>
          <c:min val="0"/>
        </c:scaling>
        <c:delete val="0"/>
        <c:axPos val="l"/>
        <c:majorGridlines>
          <c:spPr>
            <a:ln w="6350" cap="flat">
              <a:solidFill>
                <a:srgbClr val="E2E8F0"/>
              </a:solidFill>
              <a:prstDash val="solid"/>
              <a:round/>
            </a:ln>
          </c:spPr>
        </c:majorGridlines>
        <c:title>
          <c:tx>
            <c:rich>
              <a:bodyPr/>
              <a:lstStyle/>
              <a:p>
                <a:pPr>
                  <a:defRPr sz="1200" b="0" i="0" u="none" strike="noStrike">
                    <a:solidFill>
                      <a:srgbClr val="6B6B6B"/>
                    </a:solidFill>
                    <a:latin typeface="Arial"/>
                  </a:defRPr>
                </a:pPr>
                <a:r>
                  <a:rPr lang="en-US" sz="1200" b="0" i="0" u="none" strike="noStrike">
                    <a:solidFill>
                      <a:srgbClr val="6B6B6B"/>
                    </a:solidFill>
                    <a:latin typeface="Arial"/>
                  </a:rPr>
                  <a:t>Free cash flow to firm, ₹ crore</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6B6B"/>
                </a:solidFill>
                <a:latin typeface="Arial"/>
              </a:defRPr>
            </a:pPr>
            <a:endParaRPr lang="en-US"/>
          </a:p>
        </c:txPr>
        <c:crossAx val="2094734554"/>
        <c:crosses val="autoZero"/>
        <c:crossBetween val="between"/>
        <c:majorUnit val="250"/>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 per share</c:v>
                </c:pt>
              </c:strCache>
            </c:strRef>
          </c:tx>
          <c:spPr>
            <a:solidFill>
              <a:srgbClr val="C55A11"/>
            </a:solidFill>
            <a:effectLst/>
          </c:spPr>
          <c:invertIfNegative val="0"/>
          <c:dPt>
            <c:idx val="0"/>
            <c:invertIfNegative val="0"/>
            <c:bubble3D val="0"/>
            <c:extLst>
              <c:ext xmlns:c16="http://schemas.microsoft.com/office/drawing/2014/chart" uri="{C3380CC4-5D6E-409C-BE32-E72D297353CC}">
                <c16:uniqueId val="{00000001-5535-4578-A3C7-20FB1B7C0187}"/>
              </c:ext>
            </c:extLst>
          </c:dPt>
          <c:dPt>
            <c:idx val="1"/>
            <c:invertIfNegative val="0"/>
            <c:bubble3D val="0"/>
            <c:spPr>
              <a:solidFill>
                <a:srgbClr val="1F4E79"/>
              </a:solidFill>
              <a:effectLst/>
            </c:spPr>
            <c:extLst>
              <c:ext xmlns:c16="http://schemas.microsoft.com/office/drawing/2014/chart" uri="{C3380CC4-5D6E-409C-BE32-E72D297353CC}">
                <c16:uniqueId val="{00000003-5535-4578-A3C7-20FB1B7C0187}"/>
              </c:ext>
            </c:extLst>
          </c:dPt>
          <c:dPt>
            <c:idx val="2"/>
            <c:invertIfNegative val="0"/>
            <c:bubble3D val="0"/>
            <c:spPr>
              <a:solidFill>
                <a:srgbClr val="1F4E79"/>
              </a:solidFill>
              <a:effectLst/>
            </c:spPr>
            <c:extLst>
              <c:ext xmlns:c16="http://schemas.microsoft.com/office/drawing/2014/chart" uri="{C3380CC4-5D6E-409C-BE32-E72D297353CC}">
                <c16:uniqueId val="{00000005-5535-4578-A3C7-20FB1B7C0187}"/>
              </c:ext>
            </c:extLst>
          </c:dPt>
          <c:dPt>
            <c:idx val="3"/>
            <c:invertIfNegative val="0"/>
            <c:bubble3D val="0"/>
            <c:spPr>
              <a:solidFill>
                <a:srgbClr val="2E75B6"/>
              </a:solidFill>
              <a:effectLst/>
            </c:spPr>
            <c:extLst>
              <c:ext xmlns:c16="http://schemas.microsoft.com/office/drawing/2014/chart" uri="{C3380CC4-5D6E-409C-BE32-E72D297353CC}">
                <c16:uniqueId val="{00000007-5535-4578-A3C7-20FB1B7C0187}"/>
              </c:ext>
            </c:extLst>
          </c:dPt>
          <c:dPt>
            <c:idx val="4"/>
            <c:invertIfNegative val="0"/>
            <c:bubble3D val="0"/>
            <c:spPr>
              <a:solidFill>
                <a:srgbClr val="2E75B6"/>
              </a:solidFill>
              <a:effectLst/>
            </c:spPr>
            <c:extLst>
              <c:ext xmlns:c16="http://schemas.microsoft.com/office/drawing/2014/chart" uri="{C3380CC4-5D6E-409C-BE32-E72D297353CC}">
                <c16:uniqueId val="{00000009-5535-4578-A3C7-20FB1B7C0187}"/>
              </c:ext>
            </c:extLst>
          </c:dPt>
          <c:dPt>
            <c:idx val="5"/>
            <c:invertIfNegative val="0"/>
            <c:bubble3D val="0"/>
            <c:spPr>
              <a:solidFill>
                <a:srgbClr val="2E75B6"/>
              </a:solidFill>
              <a:effectLst/>
            </c:spPr>
            <c:extLst>
              <c:ext xmlns:c16="http://schemas.microsoft.com/office/drawing/2014/chart" uri="{C3380CC4-5D6E-409C-BE32-E72D297353CC}">
                <c16:uniqueId val="{0000000B-5535-4578-A3C7-20FB1B7C0187}"/>
              </c:ext>
            </c:extLst>
          </c:dPt>
          <c:dLbls>
            <c:numFmt formatCode="&quot;₹&quot;#,##0" sourceLinked="0"/>
            <c:spPr>
              <a:noFill/>
              <a:ln>
                <a:noFill/>
              </a:ln>
              <a:effectLst/>
            </c:spPr>
            <c:txPr>
              <a:bodyPr/>
              <a:lstStyle/>
              <a:p>
                <a:pPr>
                  <a:defRPr sz="13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Market price</c:v>
                </c:pt>
                <c:pt idx="1">
                  <c:v>Target price</c:v>
                </c:pt>
                <c:pt idx="2">
                  <c:v>Blended value</c:v>
                </c:pt>
                <c:pt idx="3">
                  <c:v>P/E</c:v>
                </c:pt>
                <c:pt idx="4">
                  <c:v>EV/EBITDA</c:v>
                </c:pt>
                <c:pt idx="5">
                  <c:v>DCF</c:v>
                </c:pt>
              </c:strCache>
            </c:strRef>
          </c:cat>
          <c:val>
            <c:numRef>
              <c:f>Sheet1!$B$2:$B$7</c:f>
              <c:numCache>
                <c:formatCode>General</c:formatCode>
                <c:ptCount val="6"/>
                <c:pt idx="0">
                  <c:v>1415</c:v>
                </c:pt>
                <c:pt idx="1">
                  <c:v>875</c:v>
                </c:pt>
                <c:pt idx="2">
                  <c:v>822</c:v>
                </c:pt>
                <c:pt idx="3">
                  <c:v>1142</c:v>
                </c:pt>
                <c:pt idx="4">
                  <c:v>946</c:v>
                </c:pt>
                <c:pt idx="5">
                  <c:v>537</c:v>
                </c:pt>
              </c:numCache>
            </c:numRef>
          </c:val>
          <c:extLst>
            <c:ext xmlns:c16="http://schemas.microsoft.com/office/drawing/2014/chart" uri="{C3380CC4-5D6E-409C-BE32-E72D297353CC}">
              <c16:uniqueId val="{0000000C-5535-4578-A3C7-20FB1B7C0187}"/>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2D2D2D"/>
                </a:solidFill>
                <a:latin typeface="Arial"/>
              </a:defRPr>
            </a:pPr>
            <a:endParaRPr lang="en-US"/>
          </a:p>
        </c:txPr>
        <c:crossAx val="2094734552"/>
        <c:crosses val="autoZero"/>
        <c:auto val="1"/>
        <c:lblAlgn val="ctr"/>
        <c:lblOffset val="100"/>
        <c:noMultiLvlLbl val="1"/>
      </c:catAx>
      <c:valAx>
        <c:axId val="2094734552"/>
        <c:scaling>
          <c:orientation val="minMax"/>
          <c:max val="1800"/>
          <c:min val="0"/>
        </c:scaling>
        <c:delete val="0"/>
        <c:axPos val="b"/>
        <c:majorGridlines>
          <c:spPr>
            <a:ln w="6350" cap="flat">
              <a:solidFill>
                <a:srgbClr val="E2E8F0"/>
              </a:solidFill>
              <a:prstDash val="solid"/>
              <a:round/>
            </a:ln>
          </c:spPr>
        </c:majorGridlines>
        <c:title>
          <c:tx>
            <c:rich>
              <a:bodyPr/>
              <a:lstStyle/>
              <a:p>
                <a:pPr>
                  <a:defRPr sz="1200" b="0" i="0" u="none" strike="noStrike">
                    <a:solidFill>
                      <a:srgbClr val="6B6B6B"/>
                    </a:solidFill>
                    <a:latin typeface="Arial"/>
                  </a:defRPr>
                </a:pPr>
                <a:r>
                  <a:rPr lang="en-IN" sz="1200" b="0" i="0" u="none" strike="noStrike">
                    <a:solidFill>
                      <a:srgbClr val="6B6B6B"/>
                    </a:solidFill>
                    <a:latin typeface="Arial"/>
                  </a:rPr>
                  <a:t>₹ per share</a:t>
                </a:r>
              </a:p>
            </c:rich>
          </c:tx>
          <c:overlay val="0"/>
        </c:title>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6B6B"/>
                </a:solidFill>
                <a:latin typeface="Arial"/>
              </a:defRPr>
            </a:pPr>
            <a:endParaRPr lang="en-US"/>
          </a:p>
        </c:txPr>
        <c:crossAx val="2094734554"/>
        <c:crosses val="autoZero"/>
        <c:crossBetween val="between"/>
        <c:majorUnit val="600"/>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CDSL</c:v>
                </c:pt>
              </c:strCache>
            </c:strRef>
          </c:tx>
          <c:spPr>
            <a:solidFill>
              <a:srgbClr val="1F4E79"/>
            </a:solidFill>
            <a:effectLst/>
          </c:spPr>
          <c:invertIfNegative val="0"/>
          <c:dLbls>
            <c:numFmt formatCode="0.0&quot;x&quot;" sourceLinked="0"/>
            <c:spPr>
              <a:noFill/>
              <a:ln>
                <a:noFill/>
              </a:ln>
              <a:effectLst/>
            </c:spPr>
            <c:txPr>
              <a:bodyPr/>
              <a:lstStyle/>
              <a:p>
                <a:pPr>
                  <a:defRPr sz="13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P/E</c:v>
                </c:pt>
                <c:pt idx="1">
                  <c:v>EV/EBITDA</c:v>
                </c:pt>
                <c:pt idx="2">
                  <c:v>P/B</c:v>
                </c:pt>
              </c:strCache>
            </c:strRef>
          </c:cat>
          <c:val>
            <c:numRef>
              <c:f>Sheet1!$B$2:$B$4</c:f>
              <c:numCache>
                <c:formatCode>General</c:formatCode>
                <c:ptCount val="3"/>
                <c:pt idx="0">
                  <c:v>63.15</c:v>
                </c:pt>
                <c:pt idx="1">
                  <c:v>43.72</c:v>
                </c:pt>
                <c:pt idx="2">
                  <c:v>14.83</c:v>
                </c:pt>
              </c:numCache>
            </c:numRef>
          </c:val>
          <c:extLst>
            <c:ext xmlns:c16="http://schemas.microsoft.com/office/drawing/2014/chart" uri="{C3380CC4-5D6E-409C-BE32-E72D297353CC}">
              <c16:uniqueId val="{00000000-791C-4F65-91D1-77E2AAC15271}"/>
            </c:ext>
          </c:extLst>
        </c:ser>
        <c:ser>
          <c:idx val="1"/>
          <c:order val="1"/>
          <c:tx>
            <c:strRef>
              <c:f>Sheet1!$C$1</c:f>
              <c:strCache>
                <c:ptCount val="1"/>
                <c:pt idx="0">
                  <c:v>NSDL</c:v>
                </c:pt>
              </c:strCache>
            </c:strRef>
          </c:tx>
          <c:spPr>
            <a:solidFill>
              <a:srgbClr val="2E75B6"/>
            </a:solidFill>
            <a:effectLst/>
          </c:spPr>
          <c:invertIfNegative val="0"/>
          <c:dLbls>
            <c:numFmt formatCode="0.0&quot;x&quot;" sourceLinked="0"/>
            <c:spPr>
              <a:noFill/>
              <a:ln>
                <a:noFill/>
              </a:ln>
              <a:effectLst/>
            </c:spPr>
            <c:txPr>
              <a:bodyPr/>
              <a:lstStyle/>
              <a:p>
                <a:pPr>
                  <a:defRPr sz="13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P/E</c:v>
                </c:pt>
                <c:pt idx="1">
                  <c:v>EV/EBITDA</c:v>
                </c:pt>
                <c:pt idx="2">
                  <c:v>P/B</c:v>
                </c:pt>
              </c:strCache>
            </c:strRef>
          </c:cat>
          <c:val>
            <c:numRef>
              <c:f>Sheet1!$C$2:$C$4</c:f>
              <c:numCache>
                <c:formatCode>General</c:formatCode>
                <c:ptCount val="3"/>
                <c:pt idx="0">
                  <c:v>50.98</c:v>
                </c:pt>
                <c:pt idx="1">
                  <c:v>28.83</c:v>
                </c:pt>
                <c:pt idx="2">
                  <c:v>6.9</c:v>
                </c:pt>
              </c:numCache>
            </c:numRef>
          </c:val>
          <c:extLst>
            <c:ext xmlns:c16="http://schemas.microsoft.com/office/drawing/2014/chart" uri="{C3380CC4-5D6E-409C-BE32-E72D297353CC}">
              <c16:uniqueId val="{00000001-791C-4F65-91D1-77E2AAC15271}"/>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2D2D2D"/>
                </a:solidFill>
                <a:latin typeface="Arial"/>
              </a:defRPr>
            </a:pPr>
            <a:endParaRPr lang="en-US"/>
          </a:p>
        </c:txPr>
        <c:crossAx val="2094734552"/>
        <c:crosses val="autoZero"/>
        <c:auto val="1"/>
        <c:lblAlgn val="ctr"/>
        <c:lblOffset val="100"/>
        <c:noMultiLvlLbl val="1"/>
      </c:catAx>
      <c:valAx>
        <c:axId val="2094734552"/>
        <c:scaling>
          <c:orientation val="minMax"/>
          <c:max val="80"/>
          <c:min val="0"/>
        </c:scaling>
        <c:delete val="0"/>
        <c:axPos val="l"/>
        <c:majorGridlines>
          <c:spPr>
            <a:ln w="6350" cap="flat">
              <a:solidFill>
                <a:srgbClr val="E2E8F0"/>
              </a:solidFill>
              <a:prstDash val="solid"/>
              <a:round/>
            </a:ln>
          </c:spPr>
        </c:majorGridlines>
        <c:title>
          <c:tx>
            <c:rich>
              <a:bodyPr/>
              <a:lstStyle/>
              <a:p>
                <a:pPr>
                  <a:defRPr sz="1200" b="0" i="0" u="none" strike="noStrike">
                    <a:solidFill>
                      <a:srgbClr val="6B6B6B"/>
                    </a:solidFill>
                    <a:latin typeface="Arial"/>
                  </a:defRPr>
                </a:pPr>
                <a:r>
                  <a:rPr lang="en-IN" sz="1200" b="0" i="0" u="none" strike="noStrike">
                    <a:solidFill>
                      <a:srgbClr val="6B6B6B"/>
                    </a:solidFill>
                    <a:latin typeface="Arial"/>
                  </a:rPr>
                  <a:t>Multiple (x)</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6B6B"/>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1400">
              <a:solidFill>
                <a:srgbClr val="2D2D2D"/>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9190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answer: our view is Sell with a target of ₹875, 38% below the market price. The next 10 minutes show why.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CDSL is one of two depositories in India. It holds roughly 80% of demat accounts and earns about 1.5 times NSDL's net profit. This is a genuinely strong franchise; the debate is about price, not quality.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research question plainly and give the answer first, because the panel should know where the argument is heading.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slide if time is short. Weights: DCF 35%, EV/EBITDA 32.5%, P/E 27.5%, P/B 5%. The DCF gets the largest weight because CDSL is asset-light and cash generative.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grew from ₹415 crore to ₹960 crore, but the last bar pair shows the problem: revenue rose 13% while net profit rose only 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Costs are growing faster than revenue: technology spend, employee costs and depreciation. Our DCF assumes compression continues but slows, ending at 57% EBITDA margin in FY31.</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years of explicit cash flows explain only 19% of enterprise value. That is why the next slide tests WACC and terminal growth.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slide if time is short. Every cell is far below the market price. The market is not disagreeing with our WACC by a small margin; it is assuming much higher growth or margins.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the bull case of ₹1,150 is below the market price. The blended value is ₹822; our target of ₹875 is 38% below the market.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about what could prove us wrong. If folio growth and unlisted securities lift revenue while margins stabilise, the DCF base case would be too low. Also note the limits of a one-peer cross-check.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on screen during questions. Invite feedback rather than asking only for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09160"/>
            <a:ext cx="365760" cy="2286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6B6B"/>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09160"/>
            <a:ext cx="365760" cy="2286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6B6B"/>
                </a:solidFill>
                <a:latin typeface="Arial"/>
                <a:ea typeface="Arial"/>
                <a:cs typeface="Aria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a:effectLst/>
      </p:bgPr>
    </p:bg>
    <p:spTree>
      <p:nvGrpSpPr>
        <p:cNvPr id="1" name=""/>
        <p:cNvGrpSpPr/>
        <p:nvPr/>
      </p:nvGrpSpPr>
      <p:grpSpPr>
        <a:xfrm>
          <a:off x="0" y="0"/>
          <a:ext cx="0" cy="0"/>
          <a:chOff x="0" y="0"/>
          <a:chExt cx="0" cy="0"/>
        </a:xfrm>
      </p:grpSpPr>
      <p:sp>
        <p:nvSpPr>
          <p:cNvPr id="2" name="Text 0"/>
          <p:cNvSpPr txBox="1"/>
          <p:nvPr/>
        </p:nvSpPr>
        <p:spPr>
          <a:xfrm>
            <a:off x="640080" y="1005840"/>
            <a:ext cx="7863840" cy="137160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CDSL is fully valued: a dominant depository whose margins are compressing</a:t>
            </a:r>
            <a:endParaRPr lang="en-US" sz="3200" dirty="0"/>
          </a:p>
        </p:txBody>
      </p:sp>
      <p:sp>
        <p:nvSpPr>
          <p:cNvPr id="3" name="Text 1"/>
          <p:cNvSpPr txBox="1"/>
          <p:nvPr/>
        </p:nvSpPr>
        <p:spPr>
          <a:xfrm>
            <a:off x="640080" y="2514600"/>
            <a:ext cx="7863840" cy="411480"/>
          </a:xfrm>
          <a:prstGeom prst="rect">
            <a:avLst/>
          </a:prstGeom>
          <a:noFill/>
          <a:ln/>
        </p:spPr>
        <p:txBody>
          <a:bodyPr wrap="square" lIns="0" tIns="0" rIns="0" bIns="0" rtlCol="0" anchor="ctr"/>
          <a:lstStyle/>
          <a:p>
            <a:pPr marL="0" indent="0">
              <a:buNone/>
            </a:pPr>
            <a:r>
              <a:rPr lang="en-US" sz="2000" dirty="0">
                <a:solidFill>
                  <a:srgbClr val="FFFFFF"/>
                </a:solidFill>
                <a:latin typeface="Arial" pitchFamily="34" charset="0"/>
                <a:ea typeface="Arial" pitchFamily="34" charset="-122"/>
                <a:cs typeface="Arial" pitchFamily="34" charset="-120"/>
              </a:rPr>
              <a:t>Equity research pitch: Sell, target price ₹875 (−38%)</a:t>
            </a:r>
            <a:endParaRPr lang="en-US" sz="2000" dirty="0"/>
          </a:p>
        </p:txBody>
      </p:sp>
      <p:sp>
        <p:nvSpPr>
          <p:cNvPr id="4" name="Text 2"/>
          <p:cNvSpPr txBox="1"/>
          <p:nvPr/>
        </p:nvSpPr>
        <p:spPr>
          <a:xfrm>
            <a:off x="640080" y="3017520"/>
            <a:ext cx="7863840" cy="365760"/>
          </a:xfrm>
          <a:prstGeom prst="rect">
            <a:avLst/>
          </a:prstGeom>
          <a:noFill/>
          <a:ln/>
        </p:spPr>
        <p:txBody>
          <a:bodyPr wrap="square" lIns="0" tIns="0" rIns="0" bIns="0" rtlCol="0" anchor="ctr"/>
          <a:lstStyle/>
          <a:p>
            <a:pPr marL="0" indent="0">
              <a:buNone/>
            </a:pPr>
            <a:r>
              <a:rPr lang="en-US" sz="1600" dirty="0">
                <a:solidFill>
                  <a:srgbClr val="A0BBDD"/>
                </a:solidFill>
                <a:latin typeface="Arial" pitchFamily="34" charset="0"/>
                <a:ea typeface="Arial" pitchFamily="34" charset="-122"/>
                <a:cs typeface="Arial" pitchFamily="34" charset="-120"/>
              </a:rPr>
              <a:t>FSF 2026 Apprenticeship  ·  Project 6 Final Presentation  ·  20 Sep 2026</a:t>
            </a:r>
            <a:endParaRPr lang="en-US" sz="1600" dirty="0"/>
          </a:p>
        </p:txBody>
      </p:sp>
      <p:sp>
        <p:nvSpPr>
          <p:cNvPr id="5" name="Text 3"/>
          <p:cNvSpPr txBox="1"/>
          <p:nvPr/>
        </p:nvSpPr>
        <p:spPr>
          <a:xfrm>
            <a:off x="640080" y="3520440"/>
            <a:ext cx="7863840" cy="365760"/>
          </a:xfrm>
          <a:prstGeom prst="rect">
            <a:avLst/>
          </a:prstGeom>
          <a:noFill/>
          <a:ln/>
        </p:spPr>
        <p:txBody>
          <a:bodyPr wrap="square" lIns="0" tIns="0" rIns="0" bIns="0" rtlCol="0" anchor="ctr"/>
          <a:lstStyle/>
          <a:p>
            <a:pPr marL="0" indent="0">
              <a:buNone/>
            </a:pPr>
            <a:r>
              <a:rPr lang="en-US" sz="1600" dirty="0">
                <a:solidFill>
                  <a:srgbClr val="CADCFC"/>
                </a:solidFill>
                <a:latin typeface="Arial" pitchFamily="34" charset="0"/>
                <a:ea typeface="Arial" pitchFamily="34" charset="-122"/>
                <a:cs typeface="Arial" pitchFamily="34" charset="-120"/>
              </a:rPr>
              <a:t>Varad Srivastava  ·  IISER Bhopal</a:t>
            </a:r>
            <a:endParaRPr lang="en-US" sz="1600" dirty="0"/>
          </a:p>
        </p:txBody>
      </p:sp>
      <p:sp>
        <p:nvSpPr>
          <p:cNvPr id="6" name="Text 4"/>
          <p:cNvSpPr txBox="1"/>
          <p:nvPr/>
        </p:nvSpPr>
        <p:spPr>
          <a:xfrm>
            <a:off x="640080" y="4526280"/>
            <a:ext cx="7863840" cy="274320"/>
          </a:xfrm>
          <a:prstGeom prst="rect">
            <a:avLst/>
          </a:prstGeom>
          <a:noFill/>
          <a:ln/>
        </p:spPr>
        <p:txBody>
          <a:bodyPr wrap="square" lIns="0" tIns="0" rIns="0" bIns="0" rtlCol="0" anchor="ctr"/>
          <a:lstStyle/>
          <a:p>
            <a:pPr marL="0" indent="0">
              <a:buNone/>
            </a:pPr>
            <a:r>
              <a:rPr lang="en-US" sz="1200" dirty="0">
                <a:solidFill>
                  <a:srgbClr val="A0BBDD"/>
                </a:solidFill>
                <a:latin typeface="Arial" pitchFamily="34" charset="0"/>
                <a:ea typeface="Arial" pitchFamily="34" charset="-122"/>
                <a:cs typeface="Arial" pitchFamily="34" charset="-120"/>
              </a:rPr>
              <a:t>Academic research only, not an investment recommendation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822960"/>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CDSL holds about 80% of India's demat accounts and out-earns its only rival, NSDL</a:t>
            </a:r>
            <a:endParaRPr lang="en-US" sz="2400" dirty="0"/>
          </a:p>
        </p:txBody>
      </p:sp>
      <p:graphicFrame>
        <p:nvGraphicFramePr>
          <p:cNvPr id="3" name="Chart 0"/>
          <p:cNvGraphicFramePr/>
          <p:nvPr>
            <p:extLst>
              <p:ext uri="{D42A27DB-BD31-4B8C-83A1-F6EECF244321}">
                <p14:modId xmlns:p14="http://schemas.microsoft.com/office/powerpoint/2010/main" val="216779197"/>
              </p:ext>
            </p:extLst>
          </p:nvPr>
        </p:nvGraphicFramePr>
        <p:xfrm>
          <a:off x="461596" y="1234440"/>
          <a:ext cx="484632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3200400" y="1417320"/>
            <a:ext cx="2103120" cy="384048"/>
          </a:xfrm>
          <a:prstGeom prst="roundRect">
            <a:avLst>
              <a:gd name="adj" fmla="val 14286"/>
            </a:avLst>
          </a:prstGeom>
          <a:solidFill>
            <a:srgbClr val="FFF2CC"/>
          </a:solidFill>
          <a:ln w="12700">
            <a:solidFill>
              <a:srgbClr val="E6C800"/>
            </a:solidFill>
            <a:prstDash val="solid"/>
          </a:ln>
        </p:spPr>
        <p:txBody>
          <a:bodyPr/>
          <a:lstStyle/>
          <a:p>
            <a:endParaRPr lang="en-IN"/>
          </a:p>
        </p:txBody>
      </p:sp>
      <p:sp>
        <p:nvSpPr>
          <p:cNvPr id="5" name="Text 2"/>
          <p:cNvSpPr txBox="1"/>
          <p:nvPr/>
        </p:nvSpPr>
        <p:spPr>
          <a:xfrm>
            <a:off x="3200400" y="1417320"/>
            <a:ext cx="2103120" cy="384048"/>
          </a:xfrm>
          <a:prstGeom prst="rect">
            <a:avLst/>
          </a:prstGeom>
          <a:noFill/>
          <a:ln/>
        </p:spPr>
        <p:txBody>
          <a:bodyPr wrap="square" lIns="635" tIns="635" rIns="635" bIns="635" rtlCol="0" anchor="ctr"/>
          <a:lstStyle/>
          <a:p>
            <a:pPr marL="0" indent="0" algn="ctr">
              <a:buNone/>
            </a:pPr>
            <a:r>
              <a:rPr lang="en-US" sz="1400" b="1" dirty="0">
                <a:solidFill>
                  <a:srgbClr val="7A5200"/>
                </a:solidFill>
                <a:latin typeface="Arial" pitchFamily="34" charset="0"/>
                <a:ea typeface="Arial" pitchFamily="34" charset="-122"/>
                <a:cs typeface="Arial" pitchFamily="34" charset="-120"/>
              </a:rPr>
              <a:t>Net profit 1.5x NSDL</a:t>
            </a:r>
            <a:endParaRPr lang="en-US" sz="1400" dirty="0"/>
          </a:p>
        </p:txBody>
      </p:sp>
      <p:sp>
        <p:nvSpPr>
          <p:cNvPr id="6" name="Text 3"/>
          <p:cNvSpPr txBox="1"/>
          <p:nvPr/>
        </p:nvSpPr>
        <p:spPr>
          <a:xfrm>
            <a:off x="5577840" y="1280160"/>
            <a:ext cx="3108960" cy="3108960"/>
          </a:xfrm>
          <a:prstGeom prst="rect">
            <a:avLst/>
          </a:prstGeom>
          <a:noFill/>
          <a:ln/>
        </p:spPr>
        <p:txBody>
          <a:bodyPr wrap="square" lIns="0" tIns="0" rIns="0" bIns="0" rtlCol="0" anchor="t"/>
          <a:lstStyle/>
          <a:p>
            <a:pPr marL="342900" indent="-342900">
              <a:spcAft>
                <a:spcPts val="1200"/>
              </a:spcAft>
              <a:buSzPct val="100000"/>
              <a:buChar char="•"/>
            </a:pPr>
            <a:r>
              <a:rPr lang="en-US" sz="2000" b="1" dirty="0">
                <a:solidFill>
                  <a:srgbClr val="2D2D2D"/>
                </a:solidFill>
                <a:latin typeface="Arial" pitchFamily="34" charset="0"/>
                <a:ea typeface="Arial" pitchFamily="34" charset="-122"/>
                <a:cs typeface="Arial" pitchFamily="34" charset="-120"/>
              </a:rPr>
              <a:t>~80% </a:t>
            </a:r>
            <a:r>
              <a:rPr lang="en-US" sz="2000" dirty="0">
                <a:solidFill>
                  <a:srgbClr val="2D2D2D"/>
                </a:solidFill>
                <a:latin typeface="Arial" pitchFamily="34" charset="0"/>
                <a:ea typeface="Arial" pitchFamily="34" charset="-122"/>
                <a:cs typeface="Arial" pitchFamily="34" charset="-120"/>
              </a:rPr>
              <a:t>of demat accounts; NSDL ~20%</a:t>
            </a:r>
            <a:endParaRPr lang="en-US" sz="2000" dirty="0"/>
          </a:p>
          <a:p>
            <a:pPr marL="342900" indent="-342900">
              <a:spcAft>
                <a:spcPts val="1200"/>
              </a:spcAft>
              <a:buSzPct val="100000"/>
              <a:buChar char="•"/>
            </a:pPr>
            <a:r>
              <a:rPr lang="en-US" sz="2000" b="1" dirty="0">
                <a:solidFill>
                  <a:srgbClr val="2D2D2D"/>
                </a:solidFill>
                <a:latin typeface="Arial" pitchFamily="34" charset="0"/>
                <a:ea typeface="Arial" pitchFamily="34" charset="-122"/>
                <a:cs typeface="Arial" pitchFamily="34" charset="-120"/>
              </a:rPr>
              <a:t>18+ crore </a:t>
            </a:r>
            <a:r>
              <a:rPr lang="en-US" sz="2000" dirty="0">
                <a:solidFill>
                  <a:srgbClr val="2D2D2D"/>
                </a:solidFill>
                <a:latin typeface="Arial" pitchFamily="34" charset="0"/>
                <a:ea typeface="Arial" pitchFamily="34" charset="-122"/>
                <a:cs typeface="Arial" pitchFamily="34" charset="-120"/>
              </a:rPr>
              <a:t>investor accounts</a:t>
            </a:r>
            <a:endParaRPr lang="en-US" sz="2000" dirty="0"/>
          </a:p>
          <a:p>
            <a:pPr marL="342900" indent="-342900">
              <a:spcAft>
                <a:spcPts val="1200"/>
              </a:spcAft>
              <a:buSzPct val="100000"/>
              <a:buChar char="•"/>
            </a:pPr>
            <a:r>
              <a:rPr lang="en-US" sz="2000" b="1" dirty="0">
                <a:solidFill>
                  <a:srgbClr val="2D2D2D"/>
                </a:solidFill>
                <a:latin typeface="Arial" pitchFamily="34" charset="0"/>
                <a:ea typeface="Arial" pitchFamily="34" charset="-122"/>
                <a:cs typeface="Arial" pitchFamily="34" charset="-120"/>
              </a:rPr>
              <a:t>ROE 31% </a:t>
            </a:r>
            <a:r>
              <a:rPr lang="en-US" sz="2000" dirty="0">
                <a:solidFill>
                  <a:srgbClr val="2D2D2D"/>
                </a:solidFill>
                <a:latin typeface="Arial" pitchFamily="34" charset="0"/>
                <a:ea typeface="Arial" pitchFamily="34" charset="-122"/>
                <a:cs typeface="Arial" pitchFamily="34" charset="-120"/>
              </a:rPr>
              <a:t>vs NSDL 19%</a:t>
            </a:r>
            <a:endParaRPr lang="en-US" sz="2000" dirty="0"/>
          </a:p>
        </p:txBody>
      </p:sp>
      <p:sp>
        <p:nvSpPr>
          <p:cNvPr id="7" name="Text 4"/>
          <p:cNvSpPr txBox="1"/>
          <p:nvPr/>
        </p:nvSpPr>
        <p:spPr>
          <a:xfrm>
            <a:off x="457200" y="4681728"/>
            <a:ext cx="7680960" cy="274320"/>
          </a:xfrm>
          <a:prstGeom prst="rect">
            <a:avLst/>
          </a:prstGeom>
          <a:noFill/>
          <a:ln/>
        </p:spPr>
        <p:txBody>
          <a:bodyPr wrap="square" lIns="0" tIns="0" rIns="0" bIns="0" rtlCol="0" anchor="ctr"/>
          <a:lstStyle/>
          <a:p>
            <a:pPr marL="0" indent="0">
              <a:buNone/>
            </a:pPr>
            <a:r>
              <a:rPr lang="en-US" sz="1200" dirty="0">
                <a:solidFill>
                  <a:srgbClr val="6B6B6B"/>
                </a:solidFill>
                <a:latin typeface="Arial" pitchFamily="34" charset="0"/>
                <a:ea typeface="Arial" pitchFamily="34" charset="-122"/>
                <a:cs typeface="Arial" pitchFamily="34" charset="-120"/>
              </a:rPr>
              <a:t>Source: CDSL Annual Report 2025-26; earnings-call commentary; FSF Project 4 workbook (NSDL FY26 figures).</a:t>
            </a:r>
            <a:endParaRPr lang="en-US" sz="1200" dirty="0"/>
          </a:p>
        </p:txBody>
      </p:sp>
      <p:sp>
        <p:nvSpPr>
          <p:cNvPr id="25" name="Slide Number Placeholder 0"/>
          <p:cNvSpPr>
            <a:spLocks noGrp="1"/>
          </p:cNvSpPr>
          <p:nvPr>
            <p:ph type="sldNum" sz="quarter" idx="4294967295"/>
          </p:nvPr>
        </p:nvSpPr>
        <p:spPr>
          <a:xfrm>
            <a:off x="8321040" y="4709160"/>
            <a:ext cx="365760" cy="2286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6B6B"/>
                </a:solidFill>
                <a:latin typeface="Arial"/>
                <a:ea typeface="Arial"/>
                <a:cs typeface="Aria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822960"/>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The question: does a price of ₹1,414.70 reflect what CDSL can deliver?</a:t>
            </a:r>
            <a:endParaRPr lang="en-US" sz="2400" dirty="0"/>
          </a:p>
        </p:txBody>
      </p:sp>
      <p:sp>
        <p:nvSpPr>
          <p:cNvPr id="3" name="Shape 1"/>
          <p:cNvSpPr/>
          <p:nvPr/>
        </p:nvSpPr>
        <p:spPr>
          <a:xfrm>
            <a:off x="914400" y="1371600"/>
            <a:ext cx="7315200" cy="1554480"/>
          </a:xfrm>
          <a:prstGeom prst="roundRect">
            <a:avLst>
              <a:gd name="adj" fmla="val 5882"/>
            </a:avLst>
          </a:prstGeom>
          <a:solidFill>
            <a:srgbClr val="EBF3FA"/>
          </a:solidFill>
          <a:ln w="19050">
            <a:solidFill>
              <a:srgbClr val="2E75B6"/>
            </a:solidFill>
            <a:prstDash val="solid"/>
          </a:ln>
        </p:spPr>
        <p:txBody>
          <a:bodyPr/>
          <a:lstStyle/>
          <a:p>
            <a:endParaRPr lang="en-IN"/>
          </a:p>
        </p:txBody>
      </p:sp>
      <p:sp>
        <p:nvSpPr>
          <p:cNvPr id="4" name="Text 2"/>
          <p:cNvSpPr txBox="1"/>
          <p:nvPr/>
        </p:nvSpPr>
        <p:spPr>
          <a:xfrm>
            <a:off x="1143000" y="1463040"/>
            <a:ext cx="6858000" cy="1371600"/>
          </a:xfrm>
          <a:prstGeom prst="rect">
            <a:avLst/>
          </a:prstGeom>
          <a:noFill/>
          <a:ln/>
        </p:spPr>
        <p:txBody>
          <a:bodyPr wrap="square" lIns="0" tIns="0" rIns="0" bIns="0" rtlCol="0" anchor="ctr"/>
          <a:lstStyle/>
          <a:p>
            <a:pPr marL="0" indent="0" algn="ctr">
              <a:buNone/>
            </a:pPr>
            <a:r>
              <a:rPr lang="en-US" sz="2200" dirty="0">
                <a:solidFill>
                  <a:srgbClr val="1F4E79"/>
                </a:solidFill>
                <a:latin typeface="Arial" pitchFamily="34" charset="0"/>
                <a:ea typeface="Arial" pitchFamily="34" charset="-122"/>
                <a:cs typeface="Arial" pitchFamily="34" charset="-120"/>
              </a:rPr>
              <a:t>Do CDSL's growth, margins and cash flows justify a share price of ₹1,414.70, or has the market priced in more than a base case supports?</a:t>
            </a:r>
            <a:endParaRPr lang="en-US" sz="2200" dirty="0"/>
          </a:p>
        </p:txBody>
      </p:sp>
      <p:sp>
        <p:nvSpPr>
          <p:cNvPr id="5" name="Text 3"/>
          <p:cNvSpPr txBox="1"/>
          <p:nvPr/>
        </p:nvSpPr>
        <p:spPr>
          <a:xfrm>
            <a:off x="914400" y="3291840"/>
            <a:ext cx="7315200" cy="914400"/>
          </a:xfrm>
          <a:prstGeom prst="rect">
            <a:avLst/>
          </a:prstGeom>
          <a:noFill/>
          <a:ln/>
        </p:spPr>
        <p:txBody>
          <a:bodyPr wrap="square" lIns="0" tIns="0" rIns="0" bIns="0" rtlCol="0" anchor="t"/>
          <a:lstStyle/>
          <a:p>
            <a:pPr marL="0" indent="0">
              <a:buNone/>
            </a:pPr>
            <a:r>
              <a:rPr lang="en-US" sz="2000" b="1" dirty="0">
                <a:solidFill>
                  <a:srgbClr val="2D2D2D"/>
                </a:solidFill>
                <a:latin typeface="Arial" pitchFamily="34" charset="0"/>
                <a:ea typeface="Arial" pitchFamily="34" charset="-122"/>
                <a:cs typeface="Arial" pitchFamily="34" charset="-120"/>
              </a:rPr>
              <a:t>Short answer: </a:t>
            </a:r>
            <a:r>
              <a:rPr lang="en-US" sz="2000" dirty="0">
                <a:solidFill>
                  <a:srgbClr val="2D2D2D"/>
                </a:solidFill>
                <a:latin typeface="Arial" pitchFamily="34" charset="0"/>
                <a:ea typeface="Arial" pitchFamily="34" charset="-122"/>
                <a:cs typeface="Arial" pitchFamily="34" charset="-120"/>
              </a:rPr>
              <a:t>No. Blended value is ₹822 and our target is ₹875, 38% below the market price.</a:t>
            </a:r>
            <a:endParaRPr lang="en-US" sz="2000" dirty="0"/>
          </a:p>
        </p:txBody>
      </p:sp>
      <p:sp>
        <p:nvSpPr>
          <p:cNvPr id="6" name="Text 4"/>
          <p:cNvSpPr txBox="1"/>
          <p:nvPr/>
        </p:nvSpPr>
        <p:spPr>
          <a:xfrm>
            <a:off x="457200" y="4681728"/>
            <a:ext cx="7680960" cy="274320"/>
          </a:xfrm>
          <a:prstGeom prst="rect">
            <a:avLst/>
          </a:prstGeom>
          <a:noFill/>
          <a:ln/>
        </p:spPr>
        <p:txBody>
          <a:bodyPr wrap="square" lIns="0" tIns="0" rIns="0" bIns="0" rtlCol="0" anchor="ctr"/>
          <a:lstStyle/>
          <a:p>
            <a:pPr marL="0" indent="0">
              <a:buNone/>
            </a:pPr>
            <a:r>
              <a:rPr lang="en-US" sz="1200" dirty="0">
                <a:solidFill>
                  <a:srgbClr val="6B6B6B"/>
                </a:solidFill>
                <a:latin typeface="Arial" pitchFamily="34" charset="0"/>
                <a:ea typeface="Arial" pitchFamily="34" charset="-122"/>
                <a:cs typeface="Arial" pitchFamily="34" charset="-120"/>
              </a:rPr>
              <a:t>Market price as of 30 August 2026. Source: FSF Project 4 and Project 5 workbook.</a:t>
            </a:r>
            <a:endParaRPr lang="en-US" sz="1200" dirty="0"/>
          </a:p>
        </p:txBody>
      </p:sp>
      <p:sp>
        <p:nvSpPr>
          <p:cNvPr id="25" name="Slide Number Placeholder 0"/>
          <p:cNvSpPr>
            <a:spLocks noGrp="1"/>
          </p:cNvSpPr>
          <p:nvPr>
            <p:ph type="sldNum" sz="quarter" idx="4294967295"/>
          </p:nvPr>
        </p:nvSpPr>
        <p:spPr>
          <a:xfrm>
            <a:off x="8321040" y="4709160"/>
            <a:ext cx="365760" cy="2286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6B6B"/>
                </a:solidFill>
                <a:latin typeface="Arial"/>
                <a:ea typeface="Arial"/>
                <a:cs typeface="Aria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822960"/>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A cash-flow DCF anchors the valuation, with NSDL multiples as a cross-check</a:t>
            </a:r>
            <a:endParaRPr lang="en-US" sz="2400" dirty="0"/>
          </a:p>
        </p:txBody>
      </p:sp>
      <p:sp>
        <p:nvSpPr>
          <p:cNvPr id="3" name="Shape 1"/>
          <p:cNvSpPr/>
          <p:nvPr/>
        </p:nvSpPr>
        <p:spPr>
          <a:xfrm>
            <a:off x="457200" y="1371600"/>
            <a:ext cx="1828800" cy="2468880"/>
          </a:xfrm>
          <a:prstGeom prst="roundRect">
            <a:avLst>
              <a:gd name="adj" fmla="val 4000"/>
            </a:avLst>
          </a:prstGeom>
          <a:solidFill>
            <a:srgbClr val="F0F4F8"/>
          </a:solidFill>
          <a:ln w="12700">
            <a:solidFill>
              <a:srgbClr val="C9D6E4"/>
            </a:solidFill>
            <a:prstDash val="solid"/>
          </a:ln>
        </p:spPr>
        <p:txBody>
          <a:bodyPr/>
          <a:lstStyle/>
          <a:p>
            <a:endParaRPr lang="en-IN"/>
          </a:p>
        </p:txBody>
      </p:sp>
      <p:sp>
        <p:nvSpPr>
          <p:cNvPr id="4" name="Text 2"/>
          <p:cNvSpPr txBox="1"/>
          <p:nvPr/>
        </p:nvSpPr>
        <p:spPr>
          <a:xfrm>
            <a:off x="566928" y="1481328"/>
            <a:ext cx="1609344" cy="685800"/>
          </a:xfrm>
          <a:prstGeom prst="rect">
            <a:avLst/>
          </a:prstGeom>
          <a:noFill/>
          <a:ln/>
        </p:spPr>
        <p:txBody>
          <a:bodyPr wrap="square" lIns="0" tIns="0" rIns="0" bIns="0" rtlCol="0" anchor="t"/>
          <a:lstStyle/>
          <a:p>
            <a:pPr marL="0" indent="0">
              <a:buNone/>
            </a:pPr>
            <a:r>
              <a:rPr lang="en-US" sz="1600" b="1" dirty="0">
                <a:solidFill>
                  <a:srgbClr val="1F4E79"/>
                </a:solidFill>
                <a:latin typeface="Arial" pitchFamily="34" charset="0"/>
                <a:ea typeface="Arial" pitchFamily="34" charset="-122"/>
                <a:cs typeface="Arial" pitchFamily="34" charset="-120"/>
              </a:rPr>
              <a:t>1. Forecast</a:t>
            </a:r>
            <a:endParaRPr lang="en-US" sz="1600" dirty="0"/>
          </a:p>
        </p:txBody>
      </p:sp>
      <p:sp>
        <p:nvSpPr>
          <p:cNvPr id="5" name="Text 3"/>
          <p:cNvSpPr txBox="1"/>
          <p:nvPr/>
        </p:nvSpPr>
        <p:spPr>
          <a:xfrm>
            <a:off x="566928" y="2240280"/>
            <a:ext cx="1609344" cy="1463040"/>
          </a:xfrm>
          <a:prstGeom prst="rect">
            <a:avLst/>
          </a:prstGeom>
          <a:noFill/>
          <a:ln/>
        </p:spPr>
        <p:txBody>
          <a:bodyPr wrap="square" lIns="0" tIns="0" rIns="0" bIns="0" rtlCol="0" anchor="t"/>
          <a:lstStyle/>
          <a:p>
            <a:pPr marL="0" indent="0">
              <a:buNone/>
            </a:pPr>
            <a:r>
              <a:rPr lang="en-US" sz="1600" dirty="0">
                <a:solidFill>
                  <a:srgbClr val="2D2D2D"/>
                </a:solidFill>
                <a:latin typeface="Arial" pitchFamily="34" charset="0"/>
                <a:ea typeface="Arial" pitchFamily="34" charset="-122"/>
                <a:cs typeface="Arial" pitchFamily="34" charset="-120"/>
              </a:rPr>
              <a:t>13% revenue growth; EBITDA margin tapers from 64.7% to 57.2%</a:t>
            </a:r>
            <a:endParaRPr lang="en-US" sz="1600" dirty="0"/>
          </a:p>
        </p:txBody>
      </p:sp>
      <p:sp>
        <p:nvSpPr>
          <p:cNvPr id="6" name="Text 4"/>
          <p:cNvSpPr txBox="1"/>
          <p:nvPr/>
        </p:nvSpPr>
        <p:spPr>
          <a:xfrm>
            <a:off x="2286000" y="2377440"/>
            <a:ext cx="304495" cy="457200"/>
          </a:xfrm>
          <a:prstGeom prst="rect">
            <a:avLst/>
          </a:prstGeom>
          <a:noFill/>
          <a:ln/>
        </p:spPr>
        <p:txBody>
          <a:bodyPr wrap="square" lIns="0" tIns="0" rIns="0" bIns="0" rtlCol="0" anchor="ctr"/>
          <a:lstStyle/>
          <a:p>
            <a:pPr marL="0" indent="0" algn="ctr">
              <a:buNone/>
            </a:pPr>
            <a:r>
              <a:rPr lang="en-US" sz="2400" b="1" dirty="0">
                <a:solidFill>
                  <a:srgbClr val="2E75B6"/>
                </a:solidFill>
                <a:latin typeface="Arial" pitchFamily="34" charset="0"/>
                <a:ea typeface="Arial" pitchFamily="34" charset="-122"/>
                <a:cs typeface="Arial" pitchFamily="34" charset="-120"/>
              </a:rPr>
              <a:t>→</a:t>
            </a:r>
            <a:endParaRPr lang="en-US" sz="2400" dirty="0"/>
          </a:p>
        </p:txBody>
      </p:sp>
      <p:sp>
        <p:nvSpPr>
          <p:cNvPr id="7" name="Shape 5"/>
          <p:cNvSpPr/>
          <p:nvPr/>
        </p:nvSpPr>
        <p:spPr>
          <a:xfrm>
            <a:off x="2590495" y="1371600"/>
            <a:ext cx="1828800" cy="2468880"/>
          </a:xfrm>
          <a:prstGeom prst="roundRect">
            <a:avLst>
              <a:gd name="adj" fmla="val 4000"/>
            </a:avLst>
          </a:prstGeom>
          <a:solidFill>
            <a:srgbClr val="F0F4F8"/>
          </a:solidFill>
          <a:ln w="12700">
            <a:solidFill>
              <a:srgbClr val="C9D6E4"/>
            </a:solidFill>
            <a:prstDash val="solid"/>
          </a:ln>
        </p:spPr>
        <p:txBody>
          <a:bodyPr/>
          <a:lstStyle/>
          <a:p>
            <a:endParaRPr lang="en-IN"/>
          </a:p>
        </p:txBody>
      </p:sp>
      <p:sp>
        <p:nvSpPr>
          <p:cNvPr id="8" name="Text 6"/>
          <p:cNvSpPr txBox="1"/>
          <p:nvPr/>
        </p:nvSpPr>
        <p:spPr>
          <a:xfrm>
            <a:off x="2700223" y="1481328"/>
            <a:ext cx="1609344" cy="685800"/>
          </a:xfrm>
          <a:prstGeom prst="rect">
            <a:avLst/>
          </a:prstGeom>
          <a:noFill/>
          <a:ln/>
        </p:spPr>
        <p:txBody>
          <a:bodyPr wrap="square" lIns="0" tIns="0" rIns="0" bIns="0" rtlCol="0" anchor="t"/>
          <a:lstStyle/>
          <a:p>
            <a:pPr marL="0" indent="0">
              <a:buNone/>
            </a:pPr>
            <a:r>
              <a:rPr lang="en-US" sz="1600" b="1" dirty="0">
                <a:solidFill>
                  <a:srgbClr val="1F4E79"/>
                </a:solidFill>
                <a:latin typeface="Arial" pitchFamily="34" charset="0"/>
                <a:ea typeface="Arial" pitchFamily="34" charset="-122"/>
                <a:cs typeface="Arial" pitchFamily="34" charset="-120"/>
              </a:rPr>
              <a:t>2. DCF (35%)</a:t>
            </a:r>
            <a:endParaRPr lang="en-US" sz="1600" dirty="0"/>
          </a:p>
        </p:txBody>
      </p:sp>
      <p:sp>
        <p:nvSpPr>
          <p:cNvPr id="9" name="Text 7"/>
          <p:cNvSpPr txBox="1"/>
          <p:nvPr/>
        </p:nvSpPr>
        <p:spPr>
          <a:xfrm>
            <a:off x="2700223" y="2240280"/>
            <a:ext cx="1609344" cy="1463040"/>
          </a:xfrm>
          <a:prstGeom prst="rect">
            <a:avLst/>
          </a:prstGeom>
          <a:noFill/>
          <a:ln/>
        </p:spPr>
        <p:txBody>
          <a:bodyPr wrap="square" lIns="0" tIns="0" rIns="0" bIns="0" rtlCol="0" anchor="t"/>
          <a:lstStyle/>
          <a:p>
            <a:pPr marL="0" indent="0">
              <a:buNone/>
            </a:pPr>
            <a:r>
              <a:rPr lang="en-US" sz="1600" dirty="0">
                <a:solidFill>
                  <a:srgbClr val="2D2D2D"/>
                </a:solidFill>
                <a:latin typeface="Arial" pitchFamily="34" charset="0"/>
                <a:ea typeface="Arial" pitchFamily="34" charset="-122"/>
                <a:cs typeface="Arial" pitchFamily="34" charset="-120"/>
              </a:rPr>
              <a:t>WACC 9.76%; terminal growth 5.0%</a:t>
            </a:r>
            <a:endParaRPr lang="en-US" sz="1600" dirty="0"/>
          </a:p>
        </p:txBody>
      </p:sp>
      <p:sp>
        <p:nvSpPr>
          <p:cNvPr id="10" name="Text 8"/>
          <p:cNvSpPr txBox="1"/>
          <p:nvPr/>
        </p:nvSpPr>
        <p:spPr>
          <a:xfrm>
            <a:off x="4419295" y="2377440"/>
            <a:ext cx="304495" cy="457200"/>
          </a:xfrm>
          <a:prstGeom prst="rect">
            <a:avLst/>
          </a:prstGeom>
          <a:noFill/>
          <a:ln/>
        </p:spPr>
        <p:txBody>
          <a:bodyPr wrap="square" lIns="0" tIns="0" rIns="0" bIns="0" rtlCol="0" anchor="ctr"/>
          <a:lstStyle/>
          <a:p>
            <a:pPr marL="0" indent="0" algn="ctr">
              <a:buNone/>
            </a:pPr>
            <a:r>
              <a:rPr lang="en-US" sz="2400" b="1" dirty="0">
                <a:solidFill>
                  <a:srgbClr val="2E75B6"/>
                </a:solidFill>
                <a:latin typeface="Arial" pitchFamily="34" charset="0"/>
                <a:ea typeface="Arial" pitchFamily="34" charset="-122"/>
                <a:cs typeface="Arial" pitchFamily="34" charset="-120"/>
              </a:rPr>
              <a:t>→</a:t>
            </a:r>
            <a:endParaRPr lang="en-US" sz="2400" dirty="0"/>
          </a:p>
        </p:txBody>
      </p:sp>
      <p:sp>
        <p:nvSpPr>
          <p:cNvPr id="11" name="Shape 9"/>
          <p:cNvSpPr/>
          <p:nvPr/>
        </p:nvSpPr>
        <p:spPr>
          <a:xfrm>
            <a:off x="4723790" y="1371600"/>
            <a:ext cx="1828800" cy="2468880"/>
          </a:xfrm>
          <a:prstGeom prst="roundRect">
            <a:avLst>
              <a:gd name="adj" fmla="val 4000"/>
            </a:avLst>
          </a:prstGeom>
          <a:solidFill>
            <a:srgbClr val="F0F4F8"/>
          </a:solidFill>
          <a:ln w="12700">
            <a:solidFill>
              <a:srgbClr val="C9D6E4"/>
            </a:solidFill>
            <a:prstDash val="solid"/>
          </a:ln>
        </p:spPr>
        <p:txBody>
          <a:bodyPr/>
          <a:lstStyle/>
          <a:p>
            <a:endParaRPr lang="en-IN"/>
          </a:p>
        </p:txBody>
      </p:sp>
      <p:sp>
        <p:nvSpPr>
          <p:cNvPr id="12" name="Text 10"/>
          <p:cNvSpPr txBox="1"/>
          <p:nvPr/>
        </p:nvSpPr>
        <p:spPr>
          <a:xfrm>
            <a:off x="4833518" y="1481328"/>
            <a:ext cx="1609344" cy="685800"/>
          </a:xfrm>
          <a:prstGeom prst="rect">
            <a:avLst/>
          </a:prstGeom>
          <a:noFill/>
          <a:ln/>
        </p:spPr>
        <p:txBody>
          <a:bodyPr wrap="square" lIns="0" tIns="0" rIns="0" bIns="0" rtlCol="0" anchor="t"/>
          <a:lstStyle/>
          <a:p>
            <a:pPr marL="0" indent="0">
              <a:buNone/>
            </a:pPr>
            <a:r>
              <a:rPr lang="en-US" sz="1600" b="1" dirty="0">
                <a:solidFill>
                  <a:srgbClr val="1F4E79"/>
                </a:solidFill>
                <a:latin typeface="Arial" pitchFamily="34" charset="0"/>
                <a:ea typeface="Arial" pitchFamily="34" charset="-122"/>
                <a:cs typeface="Arial" pitchFamily="34" charset="-120"/>
              </a:rPr>
              <a:t>3. NSDL multiples (65%)</a:t>
            </a:r>
            <a:endParaRPr lang="en-US" sz="1600" dirty="0"/>
          </a:p>
        </p:txBody>
      </p:sp>
      <p:sp>
        <p:nvSpPr>
          <p:cNvPr id="13" name="Text 11"/>
          <p:cNvSpPr txBox="1"/>
          <p:nvPr/>
        </p:nvSpPr>
        <p:spPr>
          <a:xfrm>
            <a:off x="4833518" y="2240280"/>
            <a:ext cx="1609344" cy="1463040"/>
          </a:xfrm>
          <a:prstGeom prst="rect">
            <a:avLst/>
          </a:prstGeom>
          <a:noFill/>
          <a:ln/>
        </p:spPr>
        <p:txBody>
          <a:bodyPr wrap="square" lIns="0" tIns="0" rIns="0" bIns="0" rtlCol="0" anchor="t"/>
          <a:lstStyle/>
          <a:p>
            <a:pPr marL="0" indent="0">
              <a:buNone/>
            </a:pPr>
            <a:r>
              <a:rPr lang="en-US" sz="1600" dirty="0">
                <a:solidFill>
                  <a:srgbClr val="2D2D2D"/>
                </a:solidFill>
                <a:latin typeface="Arial" pitchFamily="34" charset="0"/>
                <a:ea typeface="Arial" pitchFamily="34" charset="-122"/>
                <a:cs typeface="Arial" pitchFamily="34" charset="-120"/>
              </a:rPr>
              <a:t>EV/EBITDA 32.5%; P/E 27.5%; P/B 5%</a:t>
            </a:r>
            <a:endParaRPr lang="en-US" sz="1600" dirty="0"/>
          </a:p>
        </p:txBody>
      </p:sp>
      <p:sp>
        <p:nvSpPr>
          <p:cNvPr id="14" name="Text 12"/>
          <p:cNvSpPr txBox="1"/>
          <p:nvPr/>
        </p:nvSpPr>
        <p:spPr>
          <a:xfrm>
            <a:off x="6552590" y="2377440"/>
            <a:ext cx="304495" cy="457200"/>
          </a:xfrm>
          <a:prstGeom prst="rect">
            <a:avLst/>
          </a:prstGeom>
          <a:noFill/>
          <a:ln/>
        </p:spPr>
        <p:txBody>
          <a:bodyPr wrap="square" lIns="0" tIns="0" rIns="0" bIns="0" rtlCol="0" anchor="ctr"/>
          <a:lstStyle/>
          <a:p>
            <a:pPr marL="0" indent="0" algn="ctr">
              <a:buNone/>
            </a:pPr>
            <a:r>
              <a:rPr lang="en-US" sz="2400" b="1" dirty="0">
                <a:solidFill>
                  <a:srgbClr val="2E75B6"/>
                </a:solidFill>
                <a:latin typeface="Arial" pitchFamily="34" charset="0"/>
                <a:ea typeface="Arial" pitchFamily="34" charset="-122"/>
                <a:cs typeface="Arial" pitchFamily="34" charset="-120"/>
              </a:rPr>
              <a:t>→</a:t>
            </a:r>
            <a:endParaRPr lang="en-US" sz="2400" dirty="0"/>
          </a:p>
        </p:txBody>
      </p:sp>
      <p:sp>
        <p:nvSpPr>
          <p:cNvPr id="15" name="Shape 13"/>
          <p:cNvSpPr/>
          <p:nvPr/>
        </p:nvSpPr>
        <p:spPr>
          <a:xfrm>
            <a:off x="6857086" y="1371600"/>
            <a:ext cx="1828800" cy="2468880"/>
          </a:xfrm>
          <a:prstGeom prst="roundRect">
            <a:avLst>
              <a:gd name="adj" fmla="val 4000"/>
            </a:avLst>
          </a:prstGeom>
          <a:solidFill>
            <a:srgbClr val="1F4E79"/>
          </a:solidFill>
          <a:ln w="12700">
            <a:solidFill>
              <a:srgbClr val="1F4E79"/>
            </a:solidFill>
            <a:prstDash val="solid"/>
          </a:ln>
        </p:spPr>
        <p:txBody>
          <a:bodyPr/>
          <a:lstStyle/>
          <a:p>
            <a:endParaRPr lang="en-IN"/>
          </a:p>
        </p:txBody>
      </p:sp>
      <p:sp>
        <p:nvSpPr>
          <p:cNvPr id="16" name="Text 14"/>
          <p:cNvSpPr txBox="1"/>
          <p:nvPr/>
        </p:nvSpPr>
        <p:spPr>
          <a:xfrm>
            <a:off x="6966814" y="1481328"/>
            <a:ext cx="1609344" cy="685800"/>
          </a:xfrm>
          <a:prstGeom prst="rect">
            <a:avLst/>
          </a:prstGeom>
          <a:noFill/>
          <a:ln/>
        </p:spPr>
        <p:txBody>
          <a:bodyPr wrap="square" lIns="0" tIns="0" rIns="0" bIns="0" rtlCol="0" anchor="t"/>
          <a:lstStyle/>
          <a:p>
            <a:pPr marL="0" indent="0">
              <a:buNone/>
            </a:pPr>
            <a:r>
              <a:rPr lang="en-US" sz="1600" b="1" dirty="0">
                <a:solidFill>
                  <a:srgbClr val="FFFFFF"/>
                </a:solidFill>
                <a:latin typeface="Arial" pitchFamily="34" charset="0"/>
                <a:ea typeface="Arial" pitchFamily="34" charset="-122"/>
                <a:cs typeface="Arial" pitchFamily="34" charset="-120"/>
              </a:rPr>
              <a:t>4. Blended value</a:t>
            </a:r>
            <a:endParaRPr lang="en-US" sz="1600" dirty="0"/>
          </a:p>
        </p:txBody>
      </p:sp>
      <p:sp>
        <p:nvSpPr>
          <p:cNvPr id="17" name="Text 15"/>
          <p:cNvSpPr txBox="1"/>
          <p:nvPr/>
        </p:nvSpPr>
        <p:spPr>
          <a:xfrm>
            <a:off x="6966814" y="2240280"/>
            <a:ext cx="1609344" cy="1463040"/>
          </a:xfrm>
          <a:prstGeom prst="rect">
            <a:avLst/>
          </a:prstGeom>
          <a:noFill/>
          <a:ln/>
        </p:spPr>
        <p:txBody>
          <a:bodyPr wrap="square" lIns="0" tIns="0" rIns="0" bIns="0" rtlCol="0" anchor="t"/>
          <a:lstStyle/>
          <a:p>
            <a:pPr marL="0" indent="0">
              <a:buNone/>
            </a:pPr>
            <a:r>
              <a:rPr lang="en-US" sz="1600" dirty="0">
                <a:solidFill>
                  <a:srgbClr val="FFFFFF"/>
                </a:solidFill>
                <a:latin typeface="Arial" pitchFamily="34" charset="0"/>
                <a:ea typeface="Arial" pitchFamily="34" charset="-122"/>
                <a:cs typeface="Arial" pitchFamily="34" charset="-120"/>
              </a:rPr>
              <a:t>₹822 per share (weighted average)</a:t>
            </a:r>
            <a:endParaRPr lang="en-US" sz="1600" dirty="0"/>
          </a:p>
        </p:txBody>
      </p:sp>
      <p:sp>
        <p:nvSpPr>
          <p:cNvPr id="18" name="Text 16"/>
          <p:cNvSpPr txBox="1"/>
          <p:nvPr/>
        </p:nvSpPr>
        <p:spPr>
          <a:xfrm>
            <a:off x="457200" y="4023360"/>
            <a:ext cx="8229600" cy="365760"/>
          </a:xfrm>
          <a:prstGeom prst="rect">
            <a:avLst/>
          </a:prstGeom>
          <a:noFill/>
          <a:ln/>
        </p:spPr>
        <p:txBody>
          <a:bodyPr wrap="square" lIns="0" tIns="0" rIns="0" bIns="0" rtlCol="0" anchor="ctr"/>
          <a:lstStyle/>
          <a:p>
            <a:pPr marL="0" indent="0">
              <a:buNone/>
            </a:pPr>
            <a:r>
              <a:rPr lang="en-US" sz="1600" dirty="0">
                <a:solidFill>
                  <a:srgbClr val="2D2D2D"/>
                </a:solidFill>
                <a:latin typeface="Arial" pitchFamily="34" charset="0"/>
                <a:ea typeface="Arial" pitchFamily="34" charset="-122"/>
                <a:cs typeface="Arial" pitchFamily="34" charset="-120"/>
              </a:rPr>
              <a:t>NSDL is the only other listed depository, so it is the direct peer.</a:t>
            </a:r>
            <a:endParaRPr lang="en-US" sz="1600" dirty="0"/>
          </a:p>
        </p:txBody>
      </p:sp>
      <p:sp>
        <p:nvSpPr>
          <p:cNvPr id="19" name="Text 17"/>
          <p:cNvSpPr txBox="1"/>
          <p:nvPr/>
        </p:nvSpPr>
        <p:spPr>
          <a:xfrm>
            <a:off x="457200" y="4681728"/>
            <a:ext cx="7680960" cy="274320"/>
          </a:xfrm>
          <a:prstGeom prst="rect">
            <a:avLst/>
          </a:prstGeom>
          <a:noFill/>
          <a:ln/>
        </p:spPr>
        <p:txBody>
          <a:bodyPr wrap="square" lIns="0" tIns="0" rIns="0" bIns="0" rtlCol="0" anchor="ctr"/>
          <a:lstStyle/>
          <a:p>
            <a:pPr marL="0" indent="0">
              <a:buNone/>
            </a:pPr>
            <a:r>
              <a:rPr lang="en-US" sz="1200" dirty="0">
                <a:solidFill>
                  <a:srgbClr val="6B6B6B"/>
                </a:solidFill>
                <a:latin typeface="Arial" pitchFamily="34" charset="0"/>
                <a:ea typeface="Arial" pitchFamily="34" charset="-122"/>
                <a:cs typeface="Arial" pitchFamily="34" charset="-120"/>
              </a:rPr>
              <a:t>Source: FSF Project 4 (DCF, comparables) and Project 5 (valuation weights).</a:t>
            </a:r>
            <a:endParaRPr lang="en-US" sz="1200" dirty="0"/>
          </a:p>
        </p:txBody>
      </p:sp>
      <p:sp>
        <p:nvSpPr>
          <p:cNvPr id="25" name="Slide Number Placeholder 0"/>
          <p:cNvSpPr>
            <a:spLocks noGrp="1"/>
          </p:cNvSpPr>
          <p:nvPr>
            <p:ph type="sldNum" sz="quarter" idx="4294967295"/>
          </p:nvPr>
        </p:nvSpPr>
        <p:spPr>
          <a:xfrm>
            <a:off x="8321040" y="4709160"/>
            <a:ext cx="365760" cy="2286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6B6B"/>
                </a:solidFill>
                <a:latin typeface="Arial"/>
                <a:ea typeface="Arial"/>
                <a:cs typeface="Aria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822960"/>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Revenue has more than doubled since FY22, but FY26 profit growth stalled at 1.3%</a:t>
            </a:r>
            <a:endParaRPr lang="en-US" sz="2400" dirty="0"/>
          </a:p>
        </p:txBody>
      </p:sp>
      <p:graphicFrame>
        <p:nvGraphicFramePr>
          <p:cNvPr id="3" name="Chart 0"/>
          <p:cNvGraphicFramePr/>
          <p:nvPr/>
        </p:nvGraphicFramePr>
        <p:xfrm>
          <a:off x="457200" y="1234440"/>
          <a:ext cx="484632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1371600" y="1371600"/>
            <a:ext cx="2194560" cy="548640"/>
          </a:xfrm>
          <a:prstGeom prst="roundRect">
            <a:avLst>
              <a:gd name="adj" fmla="val 10000"/>
            </a:avLst>
          </a:prstGeom>
          <a:solidFill>
            <a:srgbClr val="FFF2CC"/>
          </a:solidFill>
          <a:ln w="12700">
            <a:solidFill>
              <a:srgbClr val="E6C800"/>
            </a:solidFill>
            <a:prstDash val="solid"/>
          </a:ln>
        </p:spPr>
        <p:txBody>
          <a:bodyPr/>
          <a:lstStyle/>
          <a:p>
            <a:endParaRPr lang="en-IN"/>
          </a:p>
        </p:txBody>
      </p:sp>
      <p:sp>
        <p:nvSpPr>
          <p:cNvPr id="5" name="Text 2"/>
          <p:cNvSpPr txBox="1"/>
          <p:nvPr/>
        </p:nvSpPr>
        <p:spPr>
          <a:xfrm>
            <a:off x="1371600" y="1371600"/>
            <a:ext cx="2194560" cy="548640"/>
          </a:xfrm>
          <a:prstGeom prst="rect">
            <a:avLst/>
          </a:prstGeom>
          <a:noFill/>
          <a:ln/>
        </p:spPr>
        <p:txBody>
          <a:bodyPr wrap="square" lIns="635" tIns="635" rIns="635" bIns="635" rtlCol="0" anchor="ctr"/>
          <a:lstStyle/>
          <a:p>
            <a:pPr marL="0" indent="0" algn="ctr">
              <a:buNone/>
            </a:pPr>
            <a:r>
              <a:rPr lang="en-US" sz="1400" b="1" dirty="0">
                <a:solidFill>
                  <a:srgbClr val="7A5200"/>
                </a:solidFill>
                <a:latin typeface="Arial" pitchFamily="34" charset="0"/>
                <a:ea typeface="Arial" pitchFamily="34" charset="-122"/>
                <a:cs typeface="Arial" pitchFamily="34" charset="-120"/>
              </a:rPr>
              <a:t>FY26: revenue +13.2%, net profit +1.3%</a:t>
            </a:r>
            <a:endParaRPr lang="en-US" sz="1400" dirty="0"/>
          </a:p>
        </p:txBody>
      </p:sp>
      <p:sp>
        <p:nvSpPr>
          <p:cNvPr id="6" name="Text 3"/>
          <p:cNvSpPr txBox="1"/>
          <p:nvPr/>
        </p:nvSpPr>
        <p:spPr>
          <a:xfrm>
            <a:off x="5577840" y="1280160"/>
            <a:ext cx="3108960" cy="3200400"/>
          </a:xfrm>
          <a:prstGeom prst="rect">
            <a:avLst/>
          </a:prstGeom>
          <a:noFill/>
          <a:ln/>
        </p:spPr>
        <p:txBody>
          <a:bodyPr wrap="square" lIns="0" tIns="0" rIns="0" bIns="0" rtlCol="0" anchor="t"/>
          <a:lstStyle/>
          <a:p>
            <a:pPr marL="342900" indent="-342900">
              <a:spcAft>
                <a:spcPts val="1200"/>
              </a:spcAft>
              <a:buSzPct val="100000"/>
              <a:buChar char="•"/>
            </a:pPr>
            <a:r>
              <a:rPr lang="en-US" sz="2000" b="1" dirty="0">
                <a:solidFill>
                  <a:srgbClr val="2D2D2D"/>
                </a:solidFill>
                <a:latin typeface="Arial" pitchFamily="34" charset="0"/>
                <a:ea typeface="Arial" pitchFamily="34" charset="-122"/>
                <a:cs typeface="Arial" pitchFamily="34" charset="-120"/>
              </a:rPr>
              <a:t>23.4% </a:t>
            </a:r>
            <a:r>
              <a:rPr lang="en-US" sz="2000" dirty="0">
                <a:solidFill>
                  <a:srgbClr val="2D2D2D"/>
                </a:solidFill>
                <a:latin typeface="Arial" pitchFamily="34" charset="0"/>
                <a:ea typeface="Arial" pitchFamily="34" charset="-122"/>
                <a:cs typeface="Arial" pitchFamily="34" charset="-120"/>
              </a:rPr>
              <a:t>revenue CAGR, FY22 to FY26</a:t>
            </a:r>
            <a:endParaRPr lang="en-US" sz="2000" dirty="0"/>
          </a:p>
          <a:p>
            <a:pPr marL="342900" indent="-342900">
              <a:spcAft>
                <a:spcPts val="1200"/>
              </a:spcAft>
              <a:buSzPct val="100000"/>
              <a:buChar char="•"/>
            </a:pPr>
            <a:r>
              <a:rPr lang="en-US" sz="2000" b="1" dirty="0">
                <a:solidFill>
                  <a:srgbClr val="2D2D2D"/>
                </a:solidFill>
                <a:latin typeface="Arial" pitchFamily="34" charset="0"/>
                <a:ea typeface="Arial" pitchFamily="34" charset="-122"/>
                <a:cs typeface="Arial" pitchFamily="34" charset="-120"/>
              </a:rPr>
              <a:t>FY25 growth 32.3%, </a:t>
            </a:r>
            <a:r>
              <a:rPr lang="en-US" sz="2000" dirty="0">
                <a:solidFill>
                  <a:srgbClr val="2D2D2D"/>
                </a:solidFill>
                <a:latin typeface="Arial" pitchFamily="34" charset="0"/>
                <a:ea typeface="Arial" pitchFamily="34" charset="-122"/>
                <a:cs typeface="Arial" pitchFamily="34" charset="-120"/>
              </a:rPr>
              <a:t>FY26 13.2%</a:t>
            </a:r>
            <a:endParaRPr lang="en-US" sz="2000" dirty="0"/>
          </a:p>
          <a:p>
            <a:pPr marL="342900" indent="-342900">
              <a:spcAft>
                <a:spcPts val="1200"/>
              </a:spcAft>
              <a:buSzPct val="100000"/>
              <a:buChar char="•"/>
            </a:pPr>
            <a:r>
              <a:rPr lang="en-US" sz="2000" b="1" dirty="0">
                <a:solidFill>
                  <a:srgbClr val="2D2D2D"/>
                </a:solidFill>
                <a:latin typeface="Arial" pitchFamily="34" charset="0"/>
                <a:ea typeface="Arial" pitchFamily="34" charset="-122"/>
                <a:cs typeface="Arial" pitchFamily="34" charset="-120"/>
              </a:rPr>
              <a:t>Profit growth </a:t>
            </a:r>
            <a:r>
              <a:rPr lang="en-US" sz="2000" dirty="0">
                <a:solidFill>
                  <a:srgbClr val="2D2D2D"/>
                </a:solidFill>
                <a:latin typeface="Arial" pitchFamily="34" charset="0"/>
                <a:ea typeface="Arial" pitchFamily="34" charset="-122"/>
                <a:cs typeface="Arial" pitchFamily="34" charset="-120"/>
              </a:rPr>
              <a:t>has decoupled from revenue</a:t>
            </a:r>
            <a:endParaRPr lang="en-US" sz="2000" dirty="0"/>
          </a:p>
        </p:txBody>
      </p:sp>
      <p:sp>
        <p:nvSpPr>
          <p:cNvPr id="7" name="Text 4"/>
          <p:cNvSpPr txBox="1"/>
          <p:nvPr/>
        </p:nvSpPr>
        <p:spPr>
          <a:xfrm>
            <a:off x="457200" y="4681728"/>
            <a:ext cx="7680960" cy="274320"/>
          </a:xfrm>
          <a:prstGeom prst="rect">
            <a:avLst/>
          </a:prstGeom>
          <a:noFill/>
          <a:ln/>
        </p:spPr>
        <p:txBody>
          <a:bodyPr wrap="square" lIns="0" tIns="0" rIns="0" bIns="0" rtlCol="0" anchor="ctr"/>
          <a:lstStyle/>
          <a:p>
            <a:pPr marL="0" indent="0">
              <a:buNone/>
            </a:pPr>
            <a:r>
              <a:rPr lang="en-US" sz="1200" dirty="0">
                <a:solidFill>
                  <a:srgbClr val="6B6B6B"/>
                </a:solidFill>
                <a:latin typeface="Arial" pitchFamily="34" charset="0"/>
                <a:ea typeface="Arial" pitchFamily="34" charset="-122"/>
                <a:cs typeface="Arial" pitchFamily="34" charset="-120"/>
              </a:rPr>
              <a:t>Source: CDSL Annual Reports FY22 to FY26; FSF Project 1 workbook.</a:t>
            </a:r>
            <a:endParaRPr lang="en-US" sz="1200" dirty="0"/>
          </a:p>
        </p:txBody>
      </p:sp>
      <p:sp>
        <p:nvSpPr>
          <p:cNvPr id="25" name="Slide Number Placeholder 0"/>
          <p:cNvSpPr>
            <a:spLocks noGrp="1"/>
          </p:cNvSpPr>
          <p:nvPr>
            <p:ph type="sldNum" sz="quarter" idx="4294967295"/>
          </p:nvPr>
        </p:nvSpPr>
        <p:spPr>
          <a:xfrm>
            <a:off x="8321040" y="4709160"/>
            <a:ext cx="365760" cy="2286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6B6B"/>
                </a:solidFill>
                <a:latin typeface="Arial"/>
                <a:ea typeface="Arial"/>
                <a:cs typeface="Aria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822960"/>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EBITDA margin has fallen 15 points since FY22, so profits no longer track revenue</a:t>
            </a:r>
            <a:endParaRPr lang="en-US" sz="2400" dirty="0"/>
          </a:p>
        </p:txBody>
      </p:sp>
      <p:graphicFrame>
        <p:nvGraphicFramePr>
          <p:cNvPr id="3" name="Chart 0"/>
          <p:cNvGraphicFramePr/>
          <p:nvPr/>
        </p:nvGraphicFramePr>
        <p:xfrm>
          <a:off x="457200" y="1234440"/>
          <a:ext cx="484632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2926080" y="1371600"/>
            <a:ext cx="2377440" cy="384048"/>
          </a:xfrm>
          <a:prstGeom prst="roundRect">
            <a:avLst>
              <a:gd name="adj" fmla="val 14286"/>
            </a:avLst>
          </a:prstGeom>
          <a:solidFill>
            <a:srgbClr val="FFF2CC"/>
          </a:solidFill>
          <a:ln w="12700">
            <a:solidFill>
              <a:srgbClr val="E6C800"/>
            </a:solidFill>
            <a:prstDash val="solid"/>
          </a:ln>
        </p:spPr>
        <p:txBody>
          <a:bodyPr/>
          <a:lstStyle/>
          <a:p>
            <a:endParaRPr lang="en-IN"/>
          </a:p>
        </p:txBody>
      </p:sp>
      <p:sp>
        <p:nvSpPr>
          <p:cNvPr id="5" name="Text 2"/>
          <p:cNvSpPr txBox="1"/>
          <p:nvPr/>
        </p:nvSpPr>
        <p:spPr>
          <a:xfrm>
            <a:off x="2926080" y="1371600"/>
            <a:ext cx="2377440" cy="384048"/>
          </a:xfrm>
          <a:prstGeom prst="rect">
            <a:avLst/>
          </a:prstGeom>
          <a:noFill/>
          <a:ln/>
        </p:spPr>
        <p:txBody>
          <a:bodyPr wrap="square" lIns="635" tIns="635" rIns="635" bIns="635" rtlCol="0" anchor="ctr"/>
          <a:lstStyle/>
          <a:p>
            <a:pPr marL="0" indent="0" algn="ctr">
              <a:buNone/>
            </a:pPr>
            <a:r>
              <a:rPr lang="en-US" sz="1400" b="1" dirty="0">
                <a:solidFill>
                  <a:srgbClr val="7A5200"/>
                </a:solidFill>
                <a:latin typeface="Arial" pitchFamily="34" charset="0"/>
                <a:ea typeface="Arial" pitchFamily="34" charset="-122"/>
                <a:cs typeface="Arial" pitchFamily="34" charset="-120"/>
              </a:rPr>
              <a:t>EBITDA margin −15.3 pts</a:t>
            </a:r>
            <a:endParaRPr lang="en-US" sz="1400" dirty="0"/>
          </a:p>
        </p:txBody>
      </p:sp>
      <p:sp>
        <p:nvSpPr>
          <p:cNvPr id="6" name="Text 3"/>
          <p:cNvSpPr txBox="1"/>
          <p:nvPr/>
        </p:nvSpPr>
        <p:spPr>
          <a:xfrm>
            <a:off x="5577840" y="1280160"/>
            <a:ext cx="3108960" cy="3200400"/>
          </a:xfrm>
          <a:prstGeom prst="rect">
            <a:avLst/>
          </a:prstGeom>
          <a:noFill/>
          <a:ln/>
        </p:spPr>
        <p:txBody>
          <a:bodyPr wrap="square" lIns="0" tIns="0" rIns="0" bIns="0" rtlCol="0" anchor="t"/>
          <a:lstStyle/>
          <a:p>
            <a:pPr marL="342900" indent="-342900">
              <a:spcAft>
                <a:spcPts val="1200"/>
              </a:spcAft>
              <a:buSzPct val="100000"/>
              <a:buChar char="•"/>
            </a:pPr>
            <a:r>
              <a:rPr lang="en-US" sz="2000" b="1" dirty="0">
                <a:solidFill>
                  <a:srgbClr val="2D2D2D"/>
                </a:solidFill>
                <a:latin typeface="Arial" pitchFamily="34" charset="0"/>
                <a:ea typeface="Arial" pitchFamily="34" charset="-122"/>
                <a:cs typeface="Arial" pitchFamily="34" charset="-120"/>
              </a:rPr>
              <a:t>EBITDA margin: </a:t>
            </a:r>
            <a:r>
              <a:rPr lang="en-US" sz="2000" dirty="0">
                <a:solidFill>
                  <a:srgbClr val="2D2D2D"/>
                </a:solidFill>
                <a:latin typeface="Arial" pitchFamily="34" charset="0"/>
                <a:ea typeface="Arial" pitchFamily="34" charset="-122"/>
                <a:cs typeface="Arial" pitchFamily="34" charset="-120"/>
              </a:rPr>
              <a:t>83.8% to 68.5%</a:t>
            </a:r>
            <a:endParaRPr lang="en-US" sz="2000" dirty="0"/>
          </a:p>
          <a:p>
            <a:pPr marL="342900" indent="-342900">
              <a:spcAft>
                <a:spcPts val="1200"/>
              </a:spcAft>
              <a:buSzPct val="100000"/>
              <a:buChar char="•"/>
            </a:pPr>
            <a:r>
              <a:rPr lang="en-US" sz="2000" b="1" dirty="0">
                <a:solidFill>
                  <a:srgbClr val="2D2D2D"/>
                </a:solidFill>
                <a:latin typeface="Arial" pitchFamily="34" charset="0"/>
                <a:ea typeface="Arial" pitchFamily="34" charset="-122"/>
                <a:cs typeface="Arial" pitchFamily="34" charset="-120"/>
              </a:rPr>
              <a:t>Net margin: </a:t>
            </a:r>
            <a:r>
              <a:rPr lang="en-US" sz="2000" dirty="0">
                <a:solidFill>
                  <a:srgbClr val="2D2D2D"/>
                </a:solidFill>
                <a:latin typeface="Arial" pitchFamily="34" charset="0"/>
                <a:ea typeface="Arial" pitchFamily="34" charset="-122"/>
                <a:cs typeface="Arial" pitchFamily="34" charset="-120"/>
              </a:rPr>
              <a:t>63.6% to 48.7%</a:t>
            </a:r>
            <a:endParaRPr lang="en-US" sz="2000" dirty="0"/>
          </a:p>
          <a:p>
            <a:pPr marL="342900" indent="-342900">
              <a:spcAft>
                <a:spcPts val="1200"/>
              </a:spcAft>
              <a:buSzPct val="100000"/>
              <a:buChar char="•"/>
            </a:pPr>
            <a:r>
              <a:rPr lang="en-US" sz="2000" b="1" dirty="0">
                <a:solidFill>
                  <a:srgbClr val="2D2D2D"/>
                </a:solidFill>
                <a:latin typeface="Arial" pitchFamily="34" charset="0"/>
                <a:ea typeface="Arial" pitchFamily="34" charset="-122"/>
                <a:cs typeface="Arial" pitchFamily="34" charset="-120"/>
              </a:rPr>
              <a:t>DCF assumes </a:t>
            </a:r>
            <a:r>
              <a:rPr lang="en-US" sz="2000" dirty="0">
                <a:solidFill>
                  <a:srgbClr val="2D2D2D"/>
                </a:solidFill>
                <a:latin typeface="Arial" pitchFamily="34" charset="0"/>
                <a:ea typeface="Arial" pitchFamily="34" charset="-122"/>
                <a:cs typeface="Arial" pitchFamily="34" charset="-120"/>
              </a:rPr>
              <a:t>taper to 57.2% by FY31</a:t>
            </a:r>
            <a:endParaRPr lang="en-US" sz="2000" dirty="0"/>
          </a:p>
        </p:txBody>
      </p:sp>
      <p:sp>
        <p:nvSpPr>
          <p:cNvPr id="7" name="Text 4"/>
          <p:cNvSpPr txBox="1"/>
          <p:nvPr/>
        </p:nvSpPr>
        <p:spPr>
          <a:xfrm>
            <a:off x="457200" y="4681728"/>
            <a:ext cx="7680960" cy="274320"/>
          </a:xfrm>
          <a:prstGeom prst="rect">
            <a:avLst/>
          </a:prstGeom>
          <a:noFill/>
          <a:ln/>
        </p:spPr>
        <p:txBody>
          <a:bodyPr wrap="square" lIns="0" tIns="0" rIns="0" bIns="0" rtlCol="0" anchor="ctr"/>
          <a:lstStyle/>
          <a:p>
            <a:pPr marL="0" indent="0">
              <a:buNone/>
            </a:pPr>
            <a:r>
              <a:rPr lang="en-US" sz="1200" dirty="0">
                <a:solidFill>
                  <a:srgbClr val="6B6B6B"/>
                </a:solidFill>
                <a:latin typeface="Arial" pitchFamily="34" charset="0"/>
                <a:ea typeface="Arial" pitchFamily="34" charset="-122"/>
                <a:cs typeface="Arial" pitchFamily="34" charset="-120"/>
              </a:rPr>
              <a:t>Source: CDSL Annual Reports FY22 to FY26; FSF Project 1 (common-size analysis) and Project 4 (forecast).</a:t>
            </a:r>
            <a:endParaRPr lang="en-US" sz="1200" dirty="0"/>
          </a:p>
        </p:txBody>
      </p:sp>
      <p:sp>
        <p:nvSpPr>
          <p:cNvPr id="25" name="Slide Number Placeholder 0"/>
          <p:cNvSpPr>
            <a:spLocks noGrp="1"/>
          </p:cNvSpPr>
          <p:nvPr>
            <p:ph type="sldNum" sz="quarter" idx="4294967295"/>
          </p:nvPr>
        </p:nvSpPr>
        <p:spPr>
          <a:xfrm>
            <a:off x="8321040" y="4709160"/>
            <a:ext cx="365760" cy="2286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6B6B"/>
                </a:solidFill>
                <a:latin typeface="Arial"/>
                <a:ea typeface="Arial"/>
                <a:cs typeface="Aria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822960"/>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The base-case DCF gives ₹537 per share, and 81% of that value is terminal</a:t>
            </a:r>
            <a:endParaRPr lang="en-US" sz="2400" dirty="0"/>
          </a:p>
        </p:txBody>
      </p:sp>
      <p:graphicFrame>
        <p:nvGraphicFramePr>
          <p:cNvPr id="3" name="Chart 0"/>
          <p:cNvGraphicFramePr/>
          <p:nvPr/>
        </p:nvGraphicFramePr>
        <p:xfrm>
          <a:off x="457200" y="1234440"/>
          <a:ext cx="484632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1188720" y="1463040"/>
            <a:ext cx="3749040" cy="384048"/>
          </a:xfrm>
          <a:prstGeom prst="roundRect">
            <a:avLst>
              <a:gd name="adj" fmla="val 14286"/>
            </a:avLst>
          </a:prstGeom>
          <a:solidFill>
            <a:srgbClr val="FFF2CC"/>
          </a:solidFill>
          <a:ln w="12700">
            <a:solidFill>
              <a:srgbClr val="E6C800"/>
            </a:solidFill>
            <a:prstDash val="solid"/>
          </a:ln>
        </p:spPr>
        <p:txBody>
          <a:bodyPr/>
          <a:lstStyle/>
          <a:p>
            <a:endParaRPr lang="en-IN"/>
          </a:p>
        </p:txBody>
      </p:sp>
      <p:sp>
        <p:nvSpPr>
          <p:cNvPr id="5" name="Text 2"/>
          <p:cNvSpPr txBox="1"/>
          <p:nvPr/>
        </p:nvSpPr>
        <p:spPr>
          <a:xfrm>
            <a:off x="1188720" y="1463040"/>
            <a:ext cx="3749040" cy="384048"/>
          </a:xfrm>
          <a:prstGeom prst="rect">
            <a:avLst/>
          </a:prstGeom>
          <a:noFill/>
          <a:ln/>
        </p:spPr>
        <p:txBody>
          <a:bodyPr wrap="square" lIns="635" tIns="635" rIns="635" bIns="635" rtlCol="0" anchor="ctr"/>
          <a:lstStyle/>
          <a:p>
            <a:pPr marL="0" indent="0" algn="ctr">
              <a:buNone/>
            </a:pPr>
            <a:r>
              <a:rPr lang="en-US" sz="1400" b="1" dirty="0">
                <a:solidFill>
                  <a:srgbClr val="7A5200"/>
                </a:solidFill>
                <a:latin typeface="Arial" pitchFamily="34" charset="0"/>
                <a:ea typeface="Arial" pitchFamily="34" charset="-122"/>
                <a:cs typeface="Arial" pitchFamily="34" charset="-120"/>
              </a:rPr>
              <a:t>Terminal value: 81% of EV (₹8,484 cr)</a:t>
            </a:r>
            <a:endParaRPr lang="en-US" sz="1400" dirty="0"/>
          </a:p>
        </p:txBody>
      </p:sp>
      <p:sp>
        <p:nvSpPr>
          <p:cNvPr id="6" name="Text 3"/>
          <p:cNvSpPr txBox="1"/>
          <p:nvPr/>
        </p:nvSpPr>
        <p:spPr>
          <a:xfrm>
            <a:off x="5577840" y="1280160"/>
            <a:ext cx="3108960" cy="320040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WACC 9.76%, terminal growth 5%</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EV ₹10,413 cr + net cash ₹807 cr</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Equity ₹11,220 cr ÷ 20.9 cr shares = ₹537</a:t>
            </a:r>
            <a:endParaRPr lang="en-US" sz="2000" dirty="0"/>
          </a:p>
        </p:txBody>
      </p:sp>
      <p:sp>
        <p:nvSpPr>
          <p:cNvPr id="7" name="Text 4"/>
          <p:cNvSpPr txBox="1"/>
          <p:nvPr/>
        </p:nvSpPr>
        <p:spPr>
          <a:xfrm>
            <a:off x="457200" y="4681728"/>
            <a:ext cx="7680960" cy="274320"/>
          </a:xfrm>
          <a:prstGeom prst="rect">
            <a:avLst/>
          </a:prstGeom>
          <a:noFill/>
          <a:ln/>
        </p:spPr>
        <p:txBody>
          <a:bodyPr wrap="square" lIns="0" tIns="0" rIns="0" bIns="0" rtlCol="0" anchor="ctr"/>
          <a:lstStyle/>
          <a:p>
            <a:pPr marL="0" indent="0">
              <a:buNone/>
            </a:pPr>
            <a:r>
              <a:rPr lang="en-US" sz="1200" dirty="0">
                <a:solidFill>
                  <a:srgbClr val="6B6B6B"/>
                </a:solidFill>
                <a:latin typeface="Arial" pitchFamily="34" charset="0"/>
                <a:ea typeface="Arial" pitchFamily="34" charset="-122"/>
                <a:cs typeface="Arial" pitchFamily="34" charset="-120"/>
              </a:rPr>
              <a:t>Source: FSF Project 4 DCF model; inputs from Damodaran (2026) and Yahoo Finance (2026).</a:t>
            </a:r>
            <a:endParaRPr lang="en-US" sz="1200" dirty="0"/>
          </a:p>
        </p:txBody>
      </p:sp>
      <p:sp>
        <p:nvSpPr>
          <p:cNvPr id="25" name="Slide Number Placeholder 0"/>
          <p:cNvSpPr>
            <a:spLocks noGrp="1"/>
          </p:cNvSpPr>
          <p:nvPr>
            <p:ph type="sldNum" sz="quarter" idx="4294967295"/>
          </p:nvPr>
        </p:nvSpPr>
        <p:spPr>
          <a:xfrm>
            <a:off x="8321040" y="4709160"/>
            <a:ext cx="365760" cy="2286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6B6B"/>
                </a:solidFill>
                <a:latin typeface="Arial"/>
                <a:ea typeface="Arial"/>
                <a:cs typeface="Aria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822960"/>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Across plausible WACC and growth assumptions, the DCF stays between ₹446 and ₹633</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4846320" cy="2267712"/>
        </p:xfrm>
        <a:graphic>
          <a:graphicData uri="http://schemas.openxmlformats.org/drawingml/2006/table">
            <a:tbl>
              <a:tblPr/>
              <a:tblGrid>
                <a:gridCol w="15544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566928">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WACC \ g</a:t>
                      </a:r>
                      <a:endParaRPr lang="en-US" sz="1600" dirty="0">
                        <a:latin typeface="Arial" charset="0"/>
                        <a:ea typeface="Arial" charset="0"/>
                        <a:cs typeface="Arial" charset="0"/>
                      </a:endParaRPr>
                    </a:p>
                  </a:txBody>
                  <a:tcPr anchor="ctr">
                    <a:lnL w="9525" cap="flat" cmpd="sng" algn="ctr">
                      <a:solidFill>
                        <a:srgbClr val="C9D6E4"/>
                      </a:solidFill>
                      <a:prstDash val="solid"/>
                      <a:round/>
                      <a:headEnd type="none" w="med" len="med"/>
                      <a:tailEnd type="none" w="med" len="med"/>
                    </a:lnL>
                    <a:lnR w="9525" cap="flat" cmpd="sng" algn="ctr">
                      <a:solidFill>
                        <a:srgbClr val="C9D6E4"/>
                      </a:solidFill>
                      <a:prstDash val="solid"/>
                      <a:round/>
                      <a:headEnd type="none" w="med" len="med"/>
                      <a:tailEnd type="none" w="med" len="med"/>
                    </a:lnR>
                    <a:lnT w="9525" cap="flat" cmpd="sng" algn="ctr">
                      <a:solidFill>
                        <a:srgbClr val="C9D6E4"/>
                      </a:solidFill>
                      <a:prstDash val="solid"/>
                      <a:round/>
                      <a:headEnd type="none" w="med" len="med"/>
                      <a:tailEnd type="none" w="med" len="med"/>
                    </a:lnT>
                    <a:lnB w="9525" cap="flat" cmpd="sng" algn="ctr">
                      <a:solidFill>
                        <a:srgbClr val="C9D6E4"/>
                      </a:solidFill>
                      <a:prstDash val="solid"/>
                      <a:round/>
                      <a:headEnd type="none" w="med" len="med"/>
                      <a:tailEnd type="none" w="med" len="med"/>
                    </a:lnB>
                    <a:solidFill>
                      <a:srgbClr val="1F4E79"/>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4.0%</a:t>
                      </a:r>
                      <a:endParaRPr lang="en-US" sz="1600" dirty="0">
                        <a:latin typeface="Arial" charset="0"/>
                        <a:ea typeface="Arial" charset="0"/>
                        <a:cs typeface="Arial" charset="0"/>
                      </a:endParaRPr>
                    </a:p>
                  </a:txBody>
                  <a:tcPr anchor="ctr">
                    <a:lnL w="9525" cap="flat" cmpd="sng" algn="ctr">
                      <a:solidFill>
                        <a:srgbClr val="C9D6E4"/>
                      </a:solidFill>
                      <a:prstDash val="solid"/>
                      <a:round/>
                      <a:headEnd type="none" w="med" len="med"/>
                      <a:tailEnd type="none" w="med" len="med"/>
                    </a:lnL>
                    <a:lnR w="9525" cap="flat" cmpd="sng" algn="ctr">
                      <a:solidFill>
                        <a:srgbClr val="C9D6E4"/>
                      </a:solidFill>
                      <a:prstDash val="solid"/>
                      <a:round/>
                      <a:headEnd type="none" w="med" len="med"/>
                      <a:tailEnd type="none" w="med" len="med"/>
                    </a:lnR>
                    <a:lnT w="9525" cap="flat" cmpd="sng" algn="ctr">
                      <a:solidFill>
                        <a:srgbClr val="C9D6E4"/>
                      </a:solidFill>
                      <a:prstDash val="solid"/>
                      <a:round/>
                      <a:headEnd type="none" w="med" len="med"/>
                      <a:tailEnd type="none" w="med" len="med"/>
                    </a:lnT>
                    <a:lnB w="9525" cap="flat" cmpd="sng" algn="ctr">
                      <a:solidFill>
                        <a:srgbClr val="C9D6E4"/>
                      </a:solidFill>
                      <a:prstDash val="solid"/>
                      <a:round/>
                      <a:headEnd type="none" w="med" len="med"/>
                      <a:tailEnd type="none" w="med" len="med"/>
                    </a:lnB>
                    <a:solidFill>
                      <a:srgbClr val="1F4E79"/>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4.5%</a:t>
                      </a:r>
                      <a:endParaRPr lang="en-US" sz="1600" dirty="0">
                        <a:latin typeface="Arial" charset="0"/>
                        <a:ea typeface="Arial" charset="0"/>
                        <a:cs typeface="Arial" charset="0"/>
                      </a:endParaRPr>
                    </a:p>
                  </a:txBody>
                  <a:tcPr anchor="ctr">
                    <a:lnL w="9525" cap="flat" cmpd="sng" algn="ctr">
                      <a:solidFill>
                        <a:srgbClr val="C9D6E4"/>
                      </a:solidFill>
                      <a:prstDash val="solid"/>
                      <a:round/>
                      <a:headEnd type="none" w="med" len="med"/>
                      <a:tailEnd type="none" w="med" len="med"/>
                    </a:lnL>
                    <a:lnR w="9525" cap="flat" cmpd="sng" algn="ctr">
                      <a:solidFill>
                        <a:srgbClr val="C9D6E4"/>
                      </a:solidFill>
                      <a:prstDash val="solid"/>
                      <a:round/>
                      <a:headEnd type="none" w="med" len="med"/>
                      <a:tailEnd type="none" w="med" len="med"/>
                    </a:lnR>
                    <a:lnT w="9525" cap="flat" cmpd="sng" algn="ctr">
                      <a:solidFill>
                        <a:srgbClr val="C9D6E4"/>
                      </a:solidFill>
                      <a:prstDash val="solid"/>
                      <a:round/>
                      <a:headEnd type="none" w="med" len="med"/>
                      <a:tailEnd type="none" w="med" len="med"/>
                    </a:lnT>
                    <a:lnB w="9525" cap="flat" cmpd="sng" algn="ctr">
                      <a:solidFill>
                        <a:srgbClr val="C9D6E4"/>
                      </a:solidFill>
                      <a:prstDash val="solid"/>
                      <a:round/>
                      <a:headEnd type="none" w="med" len="med"/>
                      <a:tailEnd type="none" w="med" len="med"/>
                    </a:lnB>
                    <a:solidFill>
                      <a:srgbClr val="1F4E79"/>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5.0%</a:t>
                      </a:r>
                      <a:endParaRPr lang="en-US" sz="1600" dirty="0">
                        <a:latin typeface="Arial" charset="0"/>
                        <a:ea typeface="Arial" charset="0"/>
                        <a:cs typeface="Arial" charset="0"/>
                      </a:endParaRPr>
                    </a:p>
                  </a:txBody>
                  <a:tcPr anchor="ctr">
                    <a:lnL w="9525" cap="flat" cmpd="sng" algn="ctr">
                      <a:solidFill>
                        <a:srgbClr val="C9D6E4"/>
                      </a:solidFill>
                      <a:prstDash val="solid"/>
                      <a:round/>
                      <a:headEnd type="none" w="med" len="med"/>
                      <a:tailEnd type="none" w="med" len="med"/>
                    </a:lnL>
                    <a:lnR w="9525" cap="flat" cmpd="sng" algn="ctr">
                      <a:solidFill>
                        <a:srgbClr val="C9D6E4"/>
                      </a:solidFill>
                      <a:prstDash val="solid"/>
                      <a:round/>
                      <a:headEnd type="none" w="med" len="med"/>
                      <a:tailEnd type="none" w="med" len="med"/>
                    </a:lnR>
                    <a:lnT w="9525" cap="flat" cmpd="sng" algn="ctr">
                      <a:solidFill>
                        <a:srgbClr val="C9D6E4"/>
                      </a:solidFill>
                      <a:prstDash val="solid"/>
                      <a:round/>
                      <a:headEnd type="none" w="med" len="med"/>
                      <a:tailEnd type="none" w="med" len="med"/>
                    </a:lnT>
                    <a:lnB w="9525" cap="flat" cmpd="sng" algn="ctr">
                      <a:solidFill>
                        <a:srgbClr val="C9D6E4"/>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566928">
                <a:tc>
                  <a:txBody>
                    <a:bodyPr/>
                    <a:lstStyle/>
                    <a:p>
                      <a:pPr marL="0" indent="0" algn="ctr">
                        <a:buNone/>
                      </a:pPr>
                      <a:r>
                        <a:rPr lang="en-US" sz="1600" b="1" dirty="0">
                          <a:solidFill>
                            <a:srgbClr val="1F4E79"/>
                          </a:solidFill>
                          <a:latin typeface="Arial" pitchFamily="34" charset="0"/>
                          <a:ea typeface="Arial" pitchFamily="34" charset="-122"/>
                          <a:cs typeface="Arial" pitchFamily="34" charset="-120"/>
                        </a:rPr>
                        <a:t>9.0%</a:t>
                      </a:r>
                      <a:endParaRPr lang="en-US" sz="1600" dirty="0">
                        <a:latin typeface="Arial" charset="0"/>
                        <a:ea typeface="Arial" charset="0"/>
                        <a:cs typeface="Arial" charset="0"/>
                      </a:endParaRPr>
                    </a:p>
                  </a:txBody>
                  <a:tcPr anchor="ctr">
                    <a:lnL w="9525" cap="flat" cmpd="sng" algn="ctr">
                      <a:solidFill>
                        <a:srgbClr val="C9D6E4"/>
                      </a:solidFill>
                      <a:prstDash val="solid"/>
                      <a:round/>
                      <a:headEnd type="none" w="med" len="med"/>
                      <a:tailEnd type="none" w="med" len="med"/>
                    </a:lnL>
                    <a:lnR w="9525" cap="flat" cmpd="sng" algn="ctr">
                      <a:solidFill>
                        <a:srgbClr val="C9D6E4"/>
                      </a:solidFill>
                      <a:prstDash val="solid"/>
                      <a:round/>
                      <a:headEnd type="none" w="med" len="med"/>
                      <a:tailEnd type="none" w="med" len="med"/>
                    </a:lnR>
                    <a:lnT w="9525" cap="flat" cmpd="sng" algn="ctr">
                      <a:solidFill>
                        <a:srgbClr val="C9D6E4"/>
                      </a:solidFill>
                      <a:prstDash val="solid"/>
                      <a:round/>
                      <a:headEnd type="none" w="med" len="med"/>
                      <a:tailEnd type="none" w="med" len="med"/>
                    </a:lnT>
                    <a:lnB w="9525" cap="flat" cmpd="sng" algn="ctr">
                      <a:solidFill>
                        <a:srgbClr val="C9D6E4"/>
                      </a:solidFill>
                      <a:prstDash val="solid"/>
                      <a:round/>
                      <a:headEnd type="none" w="med" len="med"/>
                      <a:tailEnd type="none" w="med" len="med"/>
                    </a:lnB>
                    <a:solidFill>
                      <a:srgbClr val="F0F4F8"/>
                    </a:solidFill>
                  </a:tcPr>
                </a:tc>
                <a:tc>
                  <a:txBody>
                    <a:bodyPr/>
                    <a:lstStyle/>
                    <a:p>
                      <a:pPr marL="0" indent="0" algn="ctr">
                        <a:buNone/>
                      </a:pPr>
                      <a:r>
                        <a:rPr lang="en-US" sz="1800" dirty="0">
                          <a:solidFill>
                            <a:srgbClr val="2D2D2D"/>
                          </a:solidFill>
                          <a:latin typeface="Arial" pitchFamily="34" charset="0"/>
                          <a:ea typeface="Arial" pitchFamily="34" charset="-122"/>
                          <a:cs typeface="Arial" pitchFamily="34" charset="-120"/>
                        </a:rPr>
                        <a:t>₹529</a:t>
                      </a:r>
                      <a:endParaRPr lang="en-US" sz="1800" dirty="0">
                        <a:latin typeface="Arial" charset="0"/>
                        <a:ea typeface="Arial" charset="0"/>
                        <a:cs typeface="Arial" charset="0"/>
                      </a:endParaRPr>
                    </a:p>
                  </a:txBody>
                  <a:tcPr anchor="ctr">
                    <a:lnL w="9525" cap="flat" cmpd="sng" algn="ctr">
                      <a:solidFill>
                        <a:srgbClr val="C9D6E4"/>
                      </a:solidFill>
                      <a:prstDash val="solid"/>
                      <a:round/>
                      <a:headEnd type="none" w="med" len="med"/>
                      <a:tailEnd type="none" w="med" len="med"/>
                    </a:lnL>
                    <a:lnR w="9525" cap="flat" cmpd="sng" algn="ctr">
                      <a:solidFill>
                        <a:srgbClr val="C9D6E4"/>
                      </a:solidFill>
                      <a:prstDash val="solid"/>
                      <a:round/>
                      <a:headEnd type="none" w="med" len="med"/>
                      <a:tailEnd type="none" w="med" len="med"/>
                    </a:lnR>
                    <a:lnT w="9525" cap="flat" cmpd="sng" algn="ctr">
                      <a:solidFill>
                        <a:srgbClr val="C9D6E4"/>
                      </a:solidFill>
                      <a:prstDash val="solid"/>
                      <a:round/>
                      <a:headEnd type="none" w="med" len="med"/>
                      <a:tailEnd type="none" w="med" len="med"/>
                    </a:lnT>
                    <a:lnB w="9525" cap="flat" cmpd="sng" algn="ctr">
                      <a:solidFill>
                        <a:srgbClr val="C9D6E4"/>
                      </a:solidFill>
                      <a:prstDash val="solid"/>
                      <a:round/>
                      <a:headEnd type="none" w="med" len="med"/>
                      <a:tailEnd type="none" w="med" len="med"/>
                    </a:lnB>
                  </a:tcPr>
                </a:tc>
                <a:tc>
                  <a:txBody>
                    <a:bodyPr/>
                    <a:lstStyle/>
                    <a:p>
                      <a:pPr marL="0" indent="0" algn="ctr">
                        <a:buNone/>
                      </a:pPr>
                      <a:r>
                        <a:rPr lang="en-US" sz="1800" dirty="0">
                          <a:solidFill>
                            <a:srgbClr val="2D2D2D"/>
                          </a:solidFill>
                          <a:latin typeface="Arial" pitchFamily="34" charset="0"/>
                          <a:ea typeface="Arial" pitchFamily="34" charset="-122"/>
                          <a:cs typeface="Arial" pitchFamily="34" charset="-120"/>
                        </a:rPr>
                        <a:t>₹575</a:t>
                      </a:r>
                      <a:endParaRPr lang="en-US" sz="1800" dirty="0">
                        <a:latin typeface="Arial" charset="0"/>
                        <a:ea typeface="Arial" charset="0"/>
                        <a:cs typeface="Arial" charset="0"/>
                      </a:endParaRPr>
                    </a:p>
                  </a:txBody>
                  <a:tcPr anchor="ctr">
                    <a:lnL w="9525" cap="flat" cmpd="sng" algn="ctr">
                      <a:solidFill>
                        <a:srgbClr val="C9D6E4"/>
                      </a:solidFill>
                      <a:prstDash val="solid"/>
                      <a:round/>
                      <a:headEnd type="none" w="med" len="med"/>
                      <a:tailEnd type="none" w="med" len="med"/>
                    </a:lnL>
                    <a:lnR w="9525" cap="flat" cmpd="sng" algn="ctr">
                      <a:solidFill>
                        <a:srgbClr val="C9D6E4"/>
                      </a:solidFill>
                      <a:prstDash val="solid"/>
                      <a:round/>
                      <a:headEnd type="none" w="med" len="med"/>
                      <a:tailEnd type="none" w="med" len="med"/>
                    </a:lnR>
                    <a:lnT w="9525" cap="flat" cmpd="sng" algn="ctr">
                      <a:solidFill>
                        <a:srgbClr val="C9D6E4"/>
                      </a:solidFill>
                      <a:prstDash val="solid"/>
                      <a:round/>
                      <a:headEnd type="none" w="med" len="med"/>
                      <a:tailEnd type="none" w="med" len="med"/>
                    </a:lnT>
                    <a:lnB w="9525" cap="flat" cmpd="sng" algn="ctr">
                      <a:solidFill>
                        <a:srgbClr val="C9D6E4"/>
                      </a:solidFill>
                      <a:prstDash val="solid"/>
                      <a:round/>
                      <a:headEnd type="none" w="med" len="med"/>
                      <a:tailEnd type="none" w="med" len="med"/>
                    </a:lnB>
                  </a:tcPr>
                </a:tc>
                <a:tc>
                  <a:txBody>
                    <a:bodyPr/>
                    <a:lstStyle/>
                    <a:p>
                      <a:pPr marL="0" indent="0" algn="ctr">
                        <a:buNone/>
                      </a:pPr>
                      <a:r>
                        <a:rPr lang="en-US" sz="1800" b="1" dirty="0">
                          <a:solidFill>
                            <a:srgbClr val="2D2D2D"/>
                          </a:solidFill>
                          <a:latin typeface="Arial" pitchFamily="34" charset="0"/>
                          <a:ea typeface="Arial" pitchFamily="34" charset="-122"/>
                          <a:cs typeface="Arial" pitchFamily="34" charset="-120"/>
                        </a:rPr>
                        <a:t>₹633</a:t>
                      </a:r>
                      <a:endParaRPr lang="en-US" sz="1800" dirty="0">
                        <a:latin typeface="Arial" charset="0"/>
                        <a:ea typeface="Arial" charset="0"/>
                        <a:cs typeface="Arial" charset="0"/>
                      </a:endParaRPr>
                    </a:p>
                  </a:txBody>
                  <a:tcPr anchor="ctr">
                    <a:lnL w="9525" cap="flat" cmpd="sng" algn="ctr">
                      <a:solidFill>
                        <a:srgbClr val="C9D6E4"/>
                      </a:solidFill>
                      <a:prstDash val="solid"/>
                      <a:round/>
                      <a:headEnd type="none" w="med" len="med"/>
                      <a:tailEnd type="none" w="med" len="med"/>
                    </a:lnL>
                    <a:lnR w="9525" cap="flat" cmpd="sng" algn="ctr">
                      <a:solidFill>
                        <a:srgbClr val="C9D6E4"/>
                      </a:solidFill>
                      <a:prstDash val="solid"/>
                      <a:round/>
                      <a:headEnd type="none" w="med" len="med"/>
                      <a:tailEnd type="none" w="med" len="med"/>
                    </a:lnR>
                    <a:lnT w="9525" cap="flat" cmpd="sng" algn="ctr">
                      <a:solidFill>
                        <a:srgbClr val="C9D6E4"/>
                      </a:solidFill>
                      <a:prstDash val="solid"/>
                      <a:round/>
                      <a:headEnd type="none" w="med" len="med"/>
                      <a:tailEnd type="none" w="med" len="med"/>
                    </a:lnT>
                    <a:lnB w="9525" cap="flat" cmpd="sng" algn="ctr">
                      <a:solidFill>
                        <a:srgbClr val="C9D6E4"/>
                      </a:solidFill>
                      <a:prstDash val="solid"/>
                      <a:round/>
                      <a:headEnd type="none" w="med" len="med"/>
                      <a:tailEnd type="none" w="med" len="med"/>
                    </a:lnB>
                    <a:solidFill>
                      <a:srgbClr val="FFF2CC"/>
                    </a:solidFill>
                  </a:tcPr>
                </a:tc>
                <a:extLst>
                  <a:ext uri="{0D108BD9-81ED-4DB2-BD59-A6C34878D82A}">
                    <a16:rowId xmlns:a16="http://schemas.microsoft.com/office/drawing/2014/main" val="10001"/>
                  </a:ext>
                </a:extLst>
              </a:tr>
              <a:tr h="566928">
                <a:tc>
                  <a:txBody>
                    <a:bodyPr/>
                    <a:lstStyle/>
                    <a:p>
                      <a:pPr marL="0" indent="0" algn="ctr">
                        <a:buNone/>
                      </a:pPr>
                      <a:r>
                        <a:rPr lang="en-US" sz="1600" b="1" dirty="0">
                          <a:solidFill>
                            <a:srgbClr val="1F4E79"/>
                          </a:solidFill>
                          <a:latin typeface="Arial" pitchFamily="34" charset="0"/>
                          <a:ea typeface="Arial" pitchFamily="34" charset="-122"/>
                          <a:cs typeface="Arial" pitchFamily="34" charset="-120"/>
                        </a:rPr>
                        <a:t>9.5%</a:t>
                      </a:r>
                      <a:endParaRPr lang="en-US" sz="1600" dirty="0">
                        <a:latin typeface="Arial" charset="0"/>
                        <a:ea typeface="Arial" charset="0"/>
                        <a:cs typeface="Arial" charset="0"/>
                      </a:endParaRPr>
                    </a:p>
                  </a:txBody>
                  <a:tcPr anchor="ctr">
                    <a:lnL w="9525" cap="flat" cmpd="sng" algn="ctr">
                      <a:solidFill>
                        <a:srgbClr val="C9D6E4"/>
                      </a:solidFill>
                      <a:prstDash val="solid"/>
                      <a:round/>
                      <a:headEnd type="none" w="med" len="med"/>
                      <a:tailEnd type="none" w="med" len="med"/>
                    </a:lnL>
                    <a:lnR w="9525" cap="flat" cmpd="sng" algn="ctr">
                      <a:solidFill>
                        <a:srgbClr val="C9D6E4"/>
                      </a:solidFill>
                      <a:prstDash val="solid"/>
                      <a:round/>
                      <a:headEnd type="none" w="med" len="med"/>
                      <a:tailEnd type="none" w="med" len="med"/>
                    </a:lnR>
                    <a:lnT w="9525" cap="flat" cmpd="sng" algn="ctr">
                      <a:solidFill>
                        <a:srgbClr val="C9D6E4"/>
                      </a:solidFill>
                      <a:prstDash val="solid"/>
                      <a:round/>
                      <a:headEnd type="none" w="med" len="med"/>
                      <a:tailEnd type="none" w="med" len="med"/>
                    </a:lnT>
                    <a:lnB w="9525" cap="flat" cmpd="sng" algn="ctr">
                      <a:solidFill>
                        <a:srgbClr val="C9D6E4"/>
                      </a:solidFill>
                      <a:prstDash val="solid"/>
                      <a:round/>
                      <a:headEnd type="none" w="med" len="med"/>
                      <a:tailEnd type="none" w="med" len="med"/>
                    </a:lnB>
                    <a:solidFill>
                      <a:srgbClr val="F0F4F8"/>
                    </a:solidFill>
                  </a:tcPr>
                </a:tc>
                <a:tc>
                  <a:txBody>
                    <a:bodyPr/>
                    <a:lstStyle/>
                    <a:p>
                      <a:pPr marL="0" indent="0" algn="ctr">
                        <a:buNone/>
                      </a:pPr>
                      <a:r>
                        <a:rPr lang="en-US" sz="1800" dirty="0">
                          <a:solidFill>
                            <a:srgbClr val="2D2D2D"/>
                          </a:solidFill>
                          <a:latin typeface="Arial" pitchFamily="34" charset="0"/>
                          <a:ea typeface="Arial" pitchFamily="34" charset="-122"/>
                          <a:cs typeface="Arial" pitchFamily="34" charset="-120"/>
                        </a:rPr>
                        <a:t>₹484</a:t>
                      </a:r>
                      <a:endParaRPr lang="en-US" sz="1800" dirty="0">
                        <a:latin typeface="Arial" charset="0"/>
                        <a:ea typeface="Arial" charset="0"/>
                        <a:cs typeface="Arial" charset="0"/>
                      </a:endParaRPr>
                    </a:p>
                  </a:txBody>
                  <a:tcPr anchor="ctr">
                    <a:lnL w="9525" cap="flat" cmpd="sng" algn="ctr">
                      <a:solidFill>
                        <a:srgbClr val="C9D6E4"/>
                      </a:solidFill>
                      <a:prstDash val="solid"/>
                      <a:round/>
                      <a:headEnd type="none" w="med" len="med"/>
                      <a:tailEnd type="none" w="med" len="med"/>
                    </a:lnL>
                    <a:lnR w="9525" cap="flat" cmpd="sng" algn="ctr">
                      <a:solidFill>
                        <a:srgbClr val="C9D6E4"/>
                      </a:solidFill>
                      <a:prstDash val="solid"/>
                      <a:round/>
                      <a:headEnd type="none" w="med" len="med"/>
                      <a:tailEnd type="none" w="med" len="med"/>
                    </a:lnR>
                    <a:lnT w="9525" cap="flat" cmpd="sng" algn="ctr">
                      <a:solidFill>
                        <a:srgbClr val="C9D6E4"/>
                      </a:solidFill>
                      <a:prstDash val="solid"/>
                      <a:round/>
                      <a:headEnd type="none" w="med" len="med"/>
                      <a:tailEnd type="none" w="med" len="med"/>
                    </a:lnT>
                    <a:lnB w="9525" cap="flat" cmpd="sng" algn="ctr">
                      <a:solidFill>
                        <a:srgbClr val="C9D6E4"/>
                      </a:solidFill>
                      <a:prstDash val="solid"/>
                      <a:round/>
                      <a:headEnd type="none" w="med" len="med"/>
                      <a:tailEnd type="none" w="med" len="med"/>
                    </a:lnB>
                  </a:tcPr>
                </a:tc>
                <a:tc>
                  <a:txBody>
                    <a:bodyPr/>
                    <a:lstStyle/>
                    <a:p>
                      <a:pPr marL="0" indent="0" algn="ctr">
                        <a:buNone/>
                      </a:pPr>
                      <a:r>
                        <a:rPr lang="en-US" sz="1800" dirty="0">
                          <a:solidFill>
                            <a:srgbClr val="2D2D2D"/>
                          </a:solidFill>
                          <a:latin typeface="Arial" pitchFamily="34" charset="0"/>
                          <a:ea typeface="Arial" pitchFamily="34" charset="-122"/>
                          <a:cs typeface="Arial" pitchFamily="34" charset="-120"/>
                        </a:rPr>
                        <a:t>₹521</a:t>
                      </a:r>
                      <a:endParaRPr lang="en-US" sz="1800" dirty="0">
                        <a:latin typeface="Arial" charset="0"/>
                        <a:ea typeface="Arial" charset="0"/>
                        <a:cs typeface="Arial" charset="0"/>
                      </a:endParaRPr>
                    </a:p>
                  </a:txBody>
                  <a:tcPr anchor="ctr">
                    <a:lnL w="9525" cap="flat" cmpd="sng" algn="ctr">
                      <a:solidFill>
                        <a:srgbClr val="C9D6E4"/>
                      </a:solidFill>
                      <a:prstDash val="solid"/>
                      <a:round/>
                      <a:headEnd type="none" w="med" len="med"/>
                      <a:tailEnd type="none" w="med" len="med"/>
                    </a:lnL>
                    <a:lnR w="9525" cap="flat" cmpd="sng" algn="ctr">
                      <a:solidFill>
                        <a:srgbClr val="C9D6E4"/>
                      </a:solidFill>
                      <a:prstDash val="solid"/>
                      <a:round/>
                      <a:headEnd type="none" w="med" len="med"/>
                      <a:tailEnd type="none" w="med" len="med"/>
                    </a:lnR>
                    <a:lnT w="9525" cap="flat" cmpd="sng" algn="ctr">
                      <a:solidFill>
                        <a:srgbClr val="C9D6E4"/>
                      </a:solidFill>
                      <a:prstDash val="solid"/>
                      <a:round/>
                      <a:headEnd type="none" w="med" len="med"/>
                      <a:tailEnd type="none" w="med" len="med"/>
                    </a:lnT>
                    <a:lnB w="9525" cap="flat" cmpd="sng" algn="ctr">
                      <a:solidFill>
                        <a:srgbClr val="C9D6E4"/>
                      </a:solidFill>
                      <a:prstDash val="solid"/>
                      <a:round/>
                      <a:headEnd type="none" w="med" len="med"/>
                      <a:tailEnd type="none" w="med" len="med"/>
                    </a:lnB>
                  </a:tcPr>
                </a:tc>
                <a:tc>
                  <a:txBody>
                    <a:bodyPr/>
                    <a:lstStyle/>
                    <a:p>
                      <a:pPr marL="0" indent="0" algn="ctr">
                        <a:buNone/>
                      </a:pPr>
                      <a:r>
                        <a:rPr lang="en-US" sz="1800" dirty="0">
                          <a:solidFill>
                            <a:srgbClr val="2D2D2D"/>
                          </a:solidFill>
                          <a:latin typeface="Arial" pitchFamily="34" charset="0"/>
                          <a:ea typeface="Arial" pitchFamily="34" charset="-122"/>
                          <a:cs typeface="Arial" pitchFamily="34" charset="-120"/>
                        </a:rPr>
                        <a:t>₹566</a:t>
                      </a:r>
                      <a:endParaRPr lang="en-US" sz="1800" dirty="0">
                        <a:latin typeface="Arial" charset="0"/>
                        <a:ea typeface="Arial" charset="0"/>
                        <a:cs typeface="Arial" charset="0"/>
                      </a:endParaRPr>
                    </a:p>
                  </a:txBody>
                  <a:tcPr anchor="ctr">
                    <a:lnL w="9525" cap="flat" cmpd="sng" algn="ctr">
                      <a:solidFill>
                        <a:srgbClr val="C9D6E4"/>
                      </a:solidFill>
                      <a:prstDash val="solid"/>
                      <a:round/>
                      <a:headEnd type="none" w="med" len="med"/>
                      <a:tailEnd type="none" w="med" len="med"/>
                    </a:lnL>
                    <a:lnR w="9525" cap="flat" cmpd="sng" algn="ctr">
                      <a:solidFill>
                        <a:srgbClr val="C9D6E4"/>
                      </a:solidFill>
                      <a:prstDash val="solid"/>
                      <a:round/>
                      <a:headEnd type="none" w="med" len="med"/>
                      <a:tailEnd type="none" w="med" len="med"/>
                    </a:lnR>
                    <a:lnT w="9525" cap="flat" cmpd="sng" algn="ctr">
                      <a:solidFill>
                        <a:srgbClr val="C9D6E4"/>
                      </a:solidFill>
                      <a:prstDash val="solid"/>
                      <a:round/>
                      <a:headEnd type="none" w="med" len="med"/>
                      <a:tailEnd type="none" w="med" len="med"/>
                    </a:lnT>
                    <a:lnB w="9525" cap="flat" cmpd="sng" algn="ctr">
                      <a:solidFill>
                        <a:srgbClr val="C9D6E4"/>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lgn="ctr">
                        <a:buNone/>
                      </a:pPr>
                      <a:r>
                        <a:rPr lang="en-US" sz="1600" b="1" dirty="0">
                          <a:solidFill>
                            <a:srgbClr val="1F4E79"/>
                          </a:solidFill>
                          <a:latin typeface="Arial" pitchFamily="34" charset="0"/>
                          <a:ea typeface="Arial" pitchFamily="34" charset="-122"/>
                          <a:cs typeface="Arial" pitchFamily="34" charset="-120"/>
                        </a:rPr>
                        <a:t>10.0%</a:t>
                      </a:r>
                      <a:endParaRPr lang="en-US" sz="1600" dirty="0">
                        <a:latin typeface="Arial" charset="0"/>
                        <a:ea typeface="Arial" charset="0"/>
                        <a:cs typeface="Arial" charset="0"/>
                      </a:endParaRPr>
                    </a:p>
                  </a:txBody>
                  <a:tcPr anchor="ctr">
                    <a:lnL w="9525" cap="flat" cmpd="sng" algn="ctr">
                      <a:solidFill>
                        <a:srgbClr val="C9D6E4"/>
                      </a:solidFill>
                      <a:prstDash val="solid"/>
                      <a:round/>
                      <a:headEnd type="none" w="med" len="med"/>
                      <a:tailEnd type="none" w="med" len="med"/>
                    </a:lnL>
                    <a:lnR w="9525" cap="flat" cmpd="sng" algn="ctr">
                      <a:solidFill>
                        <a:srgbClr val="C9D6E4"/>
                      </a:solidFill>
                      <a:prstDash val="solid"/>
                      <a:round/>
                      <a:headEnd type="none" w="med" len="med"/>
                      <a:tailEnd type="none" w="med" len="med"/>
                    </a:lnR>
                    <a:lnT w="9525" cap="flat" cmpd="sng" algn="ctr">
                      <a:solidFill>
                        <a:srgbClr val="C9D6E4"/>
                      </a:solidFill>
                      <a:prstDash val="solid"/>
                      <a:round/>
                      <a:headEnd type="none" w="med" len="med"/>
                      <a:tailEnd type="none" w="med" len="med"/>
                    </a:lnT>
                    <a:lnB w="9525" cap="flat" cmpd="sng" algn="ctr">
                      <a:solidFill>
                        <a:srgbClr val="C9D6E4"/>
                      </a:solidFill>
                      <a:prstDash val="solid"/>
                      <a:round/>
                      <a:headEnd type="none" w="med" len="med"/>
                      <a:tailEnd type="none" w="med" len="med"/>
                    </a:lnB>
                    <a:solidFill>
                      <a:srgbClr val="F0F4F8"/>
                    </a:solidFill>
                  </a:tcPr>
                </a:tc>
                <a:tc>
                  <a:txBody>
                    <a:bodyPr/>
                    <a:lstStyle/>
                    <a:p>
                      <a:pPr marL="0" indent="0" algn="ctr">
                        <a:buNone/>
                      </a:pPr>
                      <a:r>
                        <a:rPr lang="en-US" sz="1800" b="1" dirty="0">
                          <a:solidFill>
                            <a:srgbClr val="2D2D2D"/>
                          </a:solidFill>
                          <a:latin typeface="Arial" pitchFamily="34" charset="0"/>
                          <a:ea typeface="Arial" pitchFamily="34" charset="-122"/>
                          <a:cs typeface="Arial" pitchFamily="34" charset="-120"/>
                        </a:rPr>
                        <a:t>₹446</a:t>
                      </a:r>
                      <a:endParaRPr lang="en-US" sz="1800" dirty="0">
                        <a:latin typeface="Arial" charset="0"/>
                        <a:ea typeface="Arial" charset="0"/>
                        <a:cs typeface="Arial" charset="0"/>
                      </a:endParaRPr>
                    </a:p>
                  </a:txBody>
                  <a:tcPr anchor="ctr">
                    <a:lnL w="9525" cap="flat" cmpd="sng" algn="ctr">
                      <a:solidFill>
                        <a:srgbClr val="C9D6E4"/>
                      </a:solidFill>
                      <a:prstDash val="solid"/>
                      <a:round/>
                      <a:headEnd type="none" w="med" len="med"/>
                      <a:tailEnd type="none" w="med" len="med"/>
                    </a:lnL>
                    <a:lnR w="9525" cap="flat" cmpd="sng" algn="ctr">
                      <a:solidFill>
                        <a:srgbClr val="C9D6E4"/>
                      </a:solidFill>
                      <a:prstDash val="solid"/>
                      <a:round/>
                      <a:headEnd type="none" w="med" len="med"/>
                      <a:tailEnd type="none" w="med" len="med"/>
                    </a:lnR>
                    <a:lnT w="9525" cap="flat" cmpd="sng" algn="ctr">
                      <a:solidFill>
                        <a:srgbClr val="C9D6E4"/>
                      </a:solidFill>
                      <a:prstDash val="solid"/>
                      <a:round/>
                      <a:headEnd type="none" w="med" len="med"/>
                      <a:tailEnd type="none" w="med" len="med"/>
                    </a:lnT>
                    <a:lnB w="9525" cap="flat" cmpd="sng" algn="ctr">
                      <a:solidFill>
                        <a:srgbClr val="C9D6E4"/>
                      </a:solidFill>
                      <a:prstDash val="solid"/>
                      <a:round/>
                      <a:headEnd type="none" w="med" len="med"/>
                      <a:tailEnd type="none" w="med" len="med"/>
                    </a:lnB>
                    <a:solidFill>
                      <a:srgbClr val="FFF2CC"/>
                    </a:solidFill>
                  </a:tcPr>
                </a:tc>
                <a:tc>
                  <a:txBody>
                    <a:bodyPr/>
                    <a:lstStyle/>
                    <a:p>
                      <a:pPr marL="0" indent="0" algn="ctr">
                        <a:buNone/>
                      </a:pPr>
                      <a:r>
                        <a:rPr lang="en-US" sz="1800" dirty="0">
                          <a:solidFill>
                            <a:srgbClr val="2D2D2D"/>
                          </a:solidFill>
                          <a:latin typeface="Arial" pitchFamily="34" charset="0"/>
                          <a:ea typeface="Arial" pitchFamily="34" charset="-122"/>
                          <a:cs typeface="Arial" pitchFamily="34" charset="-120"/>
                        </a:rPr>
                        <a:t>₹476</a:t>
                      </a:r>
                      <a:endParaRPr lang="en-US" sz="1800" dirty="0">
                        <a:latin typeface="Arial" charset="0"/>
                        <a:ea typeface="Arial" charset="0"/>
                        <a:cs typeface="Arial" charset="0"/>
                      </a:endParaRPr>
                    </a:p>
                  </a:txBody>
                  <a:tcPr anchor="ctr">
                    <a:lnL w="9525" cap="flat" cmpd="sng" algn="ctr">
                      <a:solidFill>
                        <a:srgbClr val="C9D6E4"/>
                      </a:solidFill>
                      <a:prstDash val="solid"/>
                      <a:round/>
                      <a:headEnd type="none" w="med" len="med"/>
                      <a:tailEnd type="none" w="med" len="med"/>
                    </a:lnL>
                    <a:lnR w="9525" cap="flat" cmpd="sng" algn="ctr">
                      <a:solidFill>
                        <a:srgbClr val="C9D6E4"/>
                      </a:solidFill>
                      <a:prstDash val="solid"/>
                      <a:round/>
                      <a:headEnd type="none" w="med" len="med"/>
                      <a:tailEnd type="none" w="med" len="med"/>
                    </a:lnR>
                    <a:lnT w="9525" cap="flat" cmpd="sng" algn="ctr">
                      <a:solidFill>
                        <a:srgbClr val="C9D6E4"/>
                      </a:solidFill>
                      <a:prstDash val="solid"/>
                      <a:round/>
                      <a:headEnd type="none" w="med" len="med"/>
                      <a:tailEnd type="none" w="med" len="med"/>
                    </a:lnT>
                    <a:lnB w="9525" cap="flat" cmpd="sng" algn="ctr">
                      <a:solidFill>
                        <a:srgbClr val="C9D6E4"/>
                      </a:solidFill>
                      <a:prstDash val="solid"/>
                      <a:round/>
                      <a:headEnd type="none" w="med" len="med"/>
                      <a:tailEnd type="none" w="med" len="med"/>
                    </a:lnB>
                  </a:tcPr>
                </a:tc>
                <a:tc>
                  <a:txBody>
                    <a:bodyPr/>
                    <a:lstStyle/>
                    <a:p>
                      <a:pPr marL="0" indent="0" algn="ctr">
                        <a:buNone/>
                      </a:pPr>
                      <a:r>
                        <a:rPr lang="en-US" sz="1800" dirty="0">
                          <a:solidFill>
                            <a:srgbClr val="2D2D2D"/>
                          </a:solidFill>
                          <a:latin typeface="Arial" pitchFamily="34" charset="0"/>
                          <a:ea typeface="Arial" pitchFamily="34" charset="-122"/>
                          <a:cs typeface="Arial" pitchFamily="34" charset="-120"/>
                        </a:rPr>
                        <a:t>₹513</a:t>
                      </a:r>
                      <a:endParaRPr lang="en-US" sz="1800" dirty="0">
                        <a:latin typeface="Arial" charset="0"/>
                        <a:ea typeface="Arial" charset="0"/>
                        <a:cs typeface="Arial" charset="0"/>
                      </a:endParaRPr>
                    </a:p>
                  </a:txBody>
                  <a:tcPr anchor="ctr">
                    <a:lnL w="9525" cap="flat" cmpd="sng" algn="ctr">
                      <a:solidFill>
                        <a:srgbClr val="C9D6E4"/>
                      </a:solidFill>
                      <a:prstDash val="solid"/>
                      <a:round/>
                      <a:headEnd type="none" w="med" len="med"/>
                      <a:tailEnd type="none" w="med" len="med"/>
                    </a:lnL>
                    <a:lnR w="9525" cap="flat" cmpd="sng" algn="ctr">
                      <a:solidFill>
                        <a:srgbClr val="C9D6E4"/>
                      </a:solidFill>
                      <a:prstDash val="solid"/>
                      <a:round/>
                      <a:headEnd type="none" w="med" len="med"/>
                      <a:tailEnd type="none" w="med" len="med"/>
                    </a:lnR>
                    <a:lnT w="9525" cap="flat" cmpd="sng" algn="ctr">
                      <a:solidFill>
                        <a:srgbClr val="C9D6E4"/>
                      </a:solidFill>
                      <a:prstDash val="solid"/>
                      <a:round/>
                      <a:headEnd type="none" w="med" len="med"/>
                      <a:tailEnd type="none" w="med" len="med"/>
                    </a:lnT>
                    <a:lnB w="9525" cap="flat" cmpd="sng" algn="ctr">
                      <a:solidFill>
                        <a:srgbClr val="C9D6E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Shape 1"/>
          <p:cNvSpPr/>
          <p:nvPr/>
        </p:nvSpPr>
        <p:spPr>
          <a:xfrm>
            <a:off x="457200" y="3931920"/>
            <a:ext cx="4846320" cy="457200"/>
          </a:xfrm>
          <a:prstGeom prst="roundRect">
            <a:avLst>
              <a:gd name="adj" fmla="val 12000"/>
            </a:avLst>
          </a:prstGeom>
          <a:solidFill>
            <a:srgbClr val="FFF2CC"/>
          </a:solidFill>
          <a:ln w="12700">
            <a:solidFill>
              <a:srgbClr val="E6C800"/>
            </a:solidFill>
            <a:prstDash val="solid"/>
          </a:ln>
        </p:spPr>
        <p:txBody>
          <a:bodyPr/>
          <a:lstStyle/>
          <a:p>
            <a:endParaRPr lang="en-IN"/>
          </a:p>
        </p:txBody>
      </p:sp>
      <p:sp>
        <p:nvSpPr>
          <p:cNvPr id="5" name="Text 2"/>
          <p:cNvSpPr txBox="1"/>
          <p:nvPr/>
        </p:nvSpPr>
        <p:spPr>
          <a:xfrm>
            <a:off x="457200" y="3931920"/>
            <a:ext cx="4846320" cy="457200"/>
          </a:xfrm>
          <a:prstGeom prst="rect">
            <a:avLst/>
          </a:prstGeom>
          <a:noFill/>
          <a:ln/>
        </p:spPr>
        <p:txBody>
          <a:bodyPr wrap="square" lIns="635" tIns="635" rIns="635" bIns="635" rtlCol="0" anchor="ctr"/>
          <a:lstStyle/>
          <a:p>
            <a:pPr marL="0" indent="0" algn="ctr">
              <a:buNone/>
            </a:pPr>
            <a:r>
              <a:rPr lang="en-US" sz="1400" b="1" dirty="0">
                <a:solidFill>
                  <a:srgbClr val="7A5200"/>
                </a:solidFill>
                <a:latin typeface="Arial" pitchFamily="34" charset="0"/>
                <a:ea typeface="Arial" pitchFamily="34" charset="-122"/>
                <a:cs typeface="Arial" pitchFamily="34" charset="-120"/>
              </a:rPr>
              <a:t>Best case ₹633 is 55% below the ₹1,414.70 price</a:t>
            </a:r>
            <a:endParaRPr lang="en-US" sz="1400" dirty="0"/>
          </a:p>
        </p:txBody>
      </p:sp>
      <p:sp>
        <p:nvSpPr>
          <p:cNvPr id="6" name="Text 3"/>
          <p:cNvSpPr txBox="1"/>
          <p:nvPr/>
        </p:nvSpPr>
        <p:spPr>
          <a:xfrm>
            <a:off x="5577840" y="1280160"/>
            <a:ext cx="3108960" cy="3200400"/>
          </a:xfrm>
          <a:prstGeom prst="rect">
            <a:avLst/>
          </a:prstGeom>
          <a:noFill/>
          <a:ln/>
        </p:spPr>
        <p:txBody>
          <a:bodyPr wrap="square" lIns="0" tIns="0" rIns="0" bIns="0" rtlCol="0" anchor="t"/>
          <a:lstStyle/>
          <a:p>
            <a:pPr marL="342900" indent="-342900">
              <a:spcAft>
                <a:spcPts val="1200"/>
              </a:spcAft>
              <a:buSzPct val="100000"/>
              <a:buChar char="•"/>
            </a:pPr>
            <a:r>
              <a:rPr lang="en-US" sz="2000" b="1" dirty="0">
                <a:solidFill>
                  <a:srgbClr val="2D2D2D"/>
                </a:solidFill>
                <a:latin typeface="Arial" pitchFamily="34" charset="0"/>
                <a:ea typeface="Arial" pitchFamily="34" charset="-122"/>
                <a:cs typeface="Arial" pitchFamily="34" charset="-120"/>
              </a:rPr>
              <a:t>Base case: </a:t>
            </a:r>
            <a:r>
              <a:rPr lang="en-US" sz="2000" dirty="0">
                <a:solidFill>
                  <a:srgbClr val="2D2D2D"/>
                </a:solidFill>
                <a:latin typeface="Arial" pitchFamily="34" charset="0"/>
                <a:ea typeface="Arial" pitchFamily="34" charset="-122"/>
                <a:cs typeface="Arial" pitchFamily="34" charset="-120"/>
              </a:rPr>
              <a:t>₹537 (WACC 9.76%, g 5%)</a:t>
            </a:r>
            <a:endParaRPr lang="en-US" sz="2000" dirty="0"/>
          </a:p>
          <a:p>
            <a:pPr marL="342900" indent="-342900">
              <a:spcAft>
                <a:spcPts val="1200"/>
              </a:spcAft>
              <a:buSzPct val="100000"/>
              <a:buChar char="•"/>
            </a:pPr>
            <a:r>
              <a:rPr lang="en-US" sz="2000" b="1" dirty="0">
                <a:solidFill>
                  <a:srgbClr val="2D2D2D"/>
                </a:solidFill>
                <a:latin typeface="Arial" pitchFamily="34" charset="0"/>
                <a:ea typeface="Arial" pitchFamily="34" charset="-122"/>
                <a:cs typeface="Arial" pitchFamily="34" charset="-120"/>
              </a:rPr>
              <a:t>Range: </a:t>
            </a:r>
            <a:r>
              <a:rPr lang="en-US" sz="2000" dirty="0">
                <a:solidFill>
                  <a:srgbClr val="2D2D2D"/>
                </a:solidFill>
                <a:latin typeface="Arial" pitchFamily="34" charset="0"/>
                <a:ea typeface="Arial" pitchFamily="34" charset="-122"/>
                <a:cs typeface="Arial" pitchFamily="34" charset="-120"/>
              </a:rPr>
              <a:t>₹446 to ₹633</a:t>
            </a:r>
            <a:endParaRPr lang="en-US" sz="2000" dirty="0"/>
          </a:p>
          <a:p>
            <a:pPr marL="342900" indent="-342900">
              <a:spcAft>
                <a:spcPts val="1200"/>
              </a:spcAft>
              <a:buSzPct val="100000"/>
              <a:buChar char="•"/>
            </a:pPr>
            <a:r>
              <a:rPr lang="en-US" sz="2000" b="1" dirty="0">
                <a:solidFill>
                  <a:srgbClr val="2D2D2D"/>
                </a:solidFill>
                <a:latin typeface="Arial" pitchFamily="34" charset="0"/>
                <a:ea typeface="Arial" pitchFamily="34" charset="-122"/>
                <a:cs typeface="Arial" pitchFamily="34" charset="-120"/>
              </a:rPr>
              <a:t>Market price </a:t>
            </a:r>
            <a:r>
              <a:rPr lang="en-US" sz="2000" dirty="0">
                <a:solidFill>
                  <a:srgbClr val="2D2D2D"/>
                </a:solidFill>
                <a:latin typeface="Arial" pitchFamily="34" charset="0"/>
                <a:ea typeface="Arial" pitchFamily="34" charset="-122"/>
                <a:cs typeface="Arial" pitchFamily="34" charset="-120"/>
              </a:rPr>
              <a:t>is outside the range</a:t>
            </a:r>
            <a:endParaRPr lang="en-US" sz="2000" dirty="0"/>
          </a:p>
        </p:txBody>
      </p:sp>
      <p:sp>
        <p:nvSpPr>
          <p:cNvPr id="7" name="Text 4"/>
          <p:cNvSpPr txBox="1"/>
          <p:nvPr/>
        </p:nvSpPr>
        <p:spPr>
          <a:xfrm>
            <a:off x="457200" y="4681728"/>
            <a:ext cx="7680960" cy="274320"/>
          </a:xfrm>
          <a:prstGeom prst="rect">
            <a:avLst/>
          </a:prstGeom>
          <a:noFill/>
          <a:ln/>
        </p:spPr>
        <p:txBody>
          <a:bodyPr wrap="square" lIns="0" tIns="0" rIns="0" bIns="0" rtlCol="0" anchor="ctr"/>
          <a:lstStyle/>
          <a:p>
            <a:pPr marL="0" indent="0">
              <a:buNone/>
            </a:pPr>
            <a:r>
              <a:rPr lang="en-US" sz="1200" dirty="0">
                <a:solidFill>
                  <a:srgbClr val="6B6B6B"/>
                </a:solidFill>
                <a:latin typeface="Arial" pitchFamily="34" charset="0"/>
                <a:ea typeface="Arial" pitchFamily="34" charset="-122"/>
                <a:cs typeface="Arial" pitchFamily="34" charset="-120"/>
              </a:rPr>
              <a:t>Source: FSF Project 5 DCF sensitivity (implied value per share). g = terminal growth.</a:t>
            </a:r>
            <a:endParaRPr lang="en-US" sz="1200" dirty="0"/>
          </a:p>
        </p:txBody>
      </p:sp>
      <p:sp>
        <p:nvSpPr>
          <p:cNvPr id="25" name="Slide Number Placeholder 0"/>
          <p:cNvSpPr>
            <a:spLocks noGrp="1"/>
          </p:cNvSpPr>
          <p:nvPr>
            <p:ph type="sldNum" sz="quarter" idx="4294967295"/>
          </p:nvPr>
        </p:nvSpPr>
        <p:spPr>
          <a:xfrm>
            <a:off x="8321040" y="4709160"/>
            <a:ext cx="365760" cy="2286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6B6B"/>
                </a:solidFill>
                <a:latin typeface="Arial"/>
                <a:ea typeface="Arial"/>
                <a:cs typeface="Aria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822960"/>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All valuation methods sit below the market price, supporting a ₹875 target</a:t>
            </a:r>
            <a:endParaRPr lang="en-US" sz="2400" dirty="0"/>
          </a:p>
        </p:txBody>
      </p:sp>
      <p:graphicFrame>
        <p:nvGraphicFramePr>
          <p:cNvPr id="3" name="Chart 0"/>
          <p:cNvGraphicFramePr/>
          <p:nvPr/>
        </p:nvGraphicFramePr>
        <p:xfrm>
          <a:off x="457200" y="1234440"/>
          <a:ext cx="484632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3383280" y="1371600"/>
            <a:ext cx="1828800" cy="329184"/>
          </a:xfrm>
          <a:prstGeom prst="roundRect">
            <a:avLst>
              <a:gd name="adj" fmla="val 16667"/>
            </a:avLst>
          </a:prstGeom>
          <a:solidFill>
            <a:srgbClr val="FFF2CC"/>
          </a:solidFill>
          <a:ln w="12700">
            <a:solidFill>
              <a:srgbClr val="E6C800"/>
            </a:solidFill>
            <a:prstDash val="solid"/>
          </a:ln>
        </p:spPr>
        <p:txBody>
          <a:bodyPr/>
          <a:lstStyle/>
          <a:p>
            <a:endParaRPr lang="en-IN"/>
          </a:p>
        </p:txBody>
      </p:sp>
      <p:sp>
        <p:nvSpPr>
          <p:cNvPr id="5" name="Text 2"/>
          <p:cNvSpPr txBox="1"/>
          <p:nvPr/>
        </p:nvSpPr>
        <p:spPr>
          <a:xfrm>
            <a:off x="3383280" y="1371600"/>
            <a:ext cx="1828800" cy="329184"/>
          </a:xfrm>
          <a:prstGeom prst="rect">
            <a:avLst/>
          </a:prstGeom>
          <a:noFill/>
          <a:ln/>
        </p:spPr>
        <p:txBody>
          <a:bodyPr wrap="square" lIns="635" tIns="635" rIns="635" bIns="635" rtlCol="0" anchor="ctr"/>
          <a:lstStyle/>
          <a:p>
            <a:pPr marL="0" indent="0" algn="ctr">
              <a:buNone/>
            </a:pPr>
            <a:r>
              <a:rPr lang="en-US" sz="1400" b="1" dirty="0">
                <a:solidFill>
                  <a:srgbClr val="7A5200"/>
                </a:solidFill>
                <a:latin typeface="Arial" pitchFamily="34" charset="0"/>
                <a:ea typeface="Arial" pitchFamily="34" charset="-122"/>
                <a:cs typeface="Arial" pitchFamily="34" charset="-120"/>
              </a:rPr>
              <a:t>Target ₹875: −38%</a:t>
            </a:r>
            <a:endParaRPr lang="en-US" sz="1400" dirty="0"/>
          </a:p>
        </p:txBody>
      </p:sp>
      <p:sp>
        <p:nvSpPr>
          <p:cNvPr id="6" name="Text 3"/>
          <p:cNvSpPr txBox="1"/>
          <p:nvPr/>
        </p:nvSpPr>
        <p:spPr>
          <a:xfrm>
            <a:off x="5577840" y="1280160"/>
            <a:ext cx="3108960" cy="3200400"/>
          </a:xfrm>
          <a:prstGeom prst="rect">
            <a:avLst/>
          </a:prstGeom>
          <a:noFill/>
          <a:ln/>
        </p:spPr>
        <p:txBody>
          <a:bodyPr wrap="square" lIns="0" tIns="0" rIns="0" bIns="0" rtlCol="0" anchor="t"/>
          <a:lstStyle/>
          <a:p>
            <a:pPr marL="342900" indent="-342900">
              <a:spcAft>
                <a:spcPts val="1200"/>
              </a:spcAft>
              <a:buSzPct val="100000"/>
              <a:buChar char="•"/>
            </a:pPr>
            <a:r>
              <a:rPr lang="en-US" sz="2000" b="1" dirty="0">
                <a:solidFill>
                  <a:srgbClr val="2D2D2D"/>
                </a:solidFill>
                <a:latin typeface="Arial" pitchFamily="34" charset="0"/>
                <a:ea typeface="Arial" pitchFamily="34" charset="-122"/>
                <a:cs typeface="Arial" pitchFamily="34" charset="-120"/>
              </a:rPr>
              <a:t>Bull ₹1,150, </a:t>
            </a:r>
            <a:r>
              <a:rPr lang="en-US" sz="2000" dirty="0">
                <a:solidFill>
                  <a:srgbClr val="2D2D2D"/>
                </a:solidFill>
                <a:latin typeface="Arial" pitchFamily="34" charset="0"/>
                <a:ea typeface="Arial" pitchFamily="34" charset="-122"/>
                <a:cs typeface="Arial" pitchFamily="34" charset="-120"/>
              </a:rPr>
              <a:t>bear ₹536</a:t>
            </a:r>
            <a:endParaRPr lang="en-US" sz="2000" dirty="0"/>
          </a:p>
          <a:p>
            <a:pPr marL="342900" indent="-342900">
              <a:spcAft>
                <a:spcPts val="1200"/>
              </a:spcAft>
              <a:buSzPct val="100000"/>
              <a:buChar char="•"/>
            </a:pPr>
            <a:r>
              <a:rPr lang="en-US" sz="2000" b="1" dirty="0">
                <a:solidFill>
                  <a:srgbClr val="2D2D2D"/>
                </a:solidFill>
                <a:latin typeface="Arial" pitchFamily="34" charset="0"/>
                <a:ea typeface="Arial" pitchFamily="34" charset="-122"/>
                <a:cs typeface="Arial" pitchFamily="34" charset="-120"/>
              </a:rPr>
              <a:t>P/B value </a:t>
            </a:r>
            <a:r>
              <a:rPr lang="en-US" sz="2000" dirty="0">
                <a:solidFill>
                  <a:srgbClr val="2D2D2D"/>
                </a:solidFill>
                <a:latin typeface="Arial" pitchFamily="34" charset="0"/>
                <a:ea typeface="Arial" pitchFamily="34" charset="-122"/>
                <a:cs typeface="Arial" pitchFamily="34" charset="-120"/>
              </a:rPr>
              <a:t>₹243, weight 5%</a:t>
            </a:r>
            <a:endParaRPr lang="en-US" sz="2000" dirty="0"/>
          </a:p>
          <a:p>
            <a:pPr marL="342900" indent="-342900">
              <a:spcAft>
                <a:spcPts val="1200"/>
              </a:spcAft>
              <a:buSzPct val="100000"/>
              <a:buChar char="•"/>
            </a:pPr>
            <a:r>
              <a:rPr lang="en-US" sz="2000" b="1" dirty="0">
                <a:solidFill>
                  <a:srgbClr val="2D2D2D"/>
                </a:solidFill>
                <a:latin typeface="Arial" pitchFamily="34" charset="0"/>
                <a:ea typeface="Arial" pitchFamily="34" charset="-122"/>
                <a:cs typeface="Arial" pitchFamily="34" charset="-120"/>
              </a:rPr>
              <a:t>Price date: </a:t>
            </a:r>
            <a:r>
              <a:rPr lang="en-US" sz="2000" dirty="0">
                <a:solidFill>
                  <a:srgbClr val="2D2D2D"/>
                </a:solidFill>
                <a:latin typeface="Arial" pitchFamily="34" charset="0"/>
                <a:ea typeface="Arial" pitchFamily="34" charset="-122"/>
                <a:cs typeface="Arial" pitchFamily="34" charset="-120"/>
              </a:rPr>
              <a:t>30 Aug 2026</a:t>
            </a:r>
            <a:endParaRPr lang="en-US" sz="2000" dirty="0"/>
          </a:p>
        </p:txBody>
      </p:sp>
      <p:sp>
        <p:nvSpPr>
          <p:cNvPr id="7" name="Text 4"/>
          <p:cNvSpPr txBox="1"/>
          <p:nvPr/>
        </p:nvSpPr>
        <p:spPr>
          <a:xfrm>
            <a:off x="457200" y="4681728"/>
            <a:ext cx="7680960" cy="274320"/>
          </a:xfrm>
          <a:prstGeom prst="rect">
            <a:avLst/>
          </a:prstGeom>
          <a:noFill/>
          <a:ln/>
        </p:spPr>
        <p:txBody>
          <a:bodyPr wrap="square" lIns="0" tIns="0" rIns="0" bIns="0" rtlCol="0" anchor="ctr"/>
          <a:lstStyle/>
          <a:p>
            <a:pPr marL="0" indent="0">
              <a:buNone/>
            </a:pPr>
            <a:r>
              <a:rPr lang="en-US" sz="1200" dirty="0">
                <a:solidFill>
                  <a:srgbClr val="6B6B6B"/>
                </a:solidFill>
                <a:latin typeface="Arial" pitchFamily="34" charset="0"/>
                <a:ea typeface="Arial" pitchFamily="34" charset="-122"/>
                <a:cs typeface="Arial" pitchFamily="34" charset="-120"/>
              </a:rPr>
              <a:t>Source: FSF Project 4 and Project 5 workbook. Weights: DCF 35%, EV/EBITDA 32.5%, P/E 27.5%, P/B 5%.</a:t>
            </a:r>
            <a:endParaRPr lang="en-US" sz="1200" dirty="0"/>
          </a:p>
        </p:txBody>
      </p:sp>
      <p:sp>
        <p:nvSpPr>
          <p:cNvPr id="25" name="Slide Number Placeholder 0"/>
          <p:cNvSpPr>
            <a:spLocks noGrp="1"/>
          </p:cNvSpPr>
          <p:nvPr>
            <p:ph type="sldNum" sz="quarter" idx="4294967295"/>
          </p:nvPr>
        </p:nvSpPr>
        <p:spPr>
          <a:xfrm>
            <a:off x="8321040" y="4709160"/>
            <a:ext cx="365760" cy="2286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6B6B"/>
                </a:solidFill>
                <a:latin typeface="Arial"/>
                <a:ea typeface="Arial"/>
                <a:cs typeface="Aria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822960"/>
          </a:xfrm>
          <a:prstGeom prst="rect">
            <a:avLst/>
          </a:prstGeom>
          <a:noFill/>
          <a:ln/>
        </p:spPr>
        <p:txBody>
          <a:bodyPr wrap="square" lIns="0" tIns="0" rIns="0" bIns="0" rtlCol="0" anchor="t"/>
          <a:lstStyle/>
          <a:p>
            <a:pPr marL="0" indent="0">
              <a:buNone/>
            </a:pPr>
            <a:r>
              <a:rPr lang="en-US" sz="2400" b="1" dirty="0">
                <a:solidFill>
                  <a:srgbClr val="1F4E79"/>
                </a:solidFill>
                <a:latin typeface="Arial" pitchFamily="34" charset="0"/>
                <a:ea typeface="Arial" pitchFamily="34" charset="-122"/>
                <a:cs typeface="Arial" pitchFamily="34" charset="-120"/>
              </a:rPr>
              <a:t>Billed-folio growth and unlisted securities are the main threats to our Sell call</a:t>
            </a:r>
            <a:endParaRPr lang="en-US" sz="2400" dirty="0"/>
          </a:p>
        </p:txBody>
      </p:sp>
      <p:sp>
        <p:nvSpPr>
          <p:cNvPr id="3" name="Shape 1"/>
          <p:cNvSpPr/>
          <p:nvPr/>
        </p:nvSpPr>
        <p:spPr>
          <a:xfrm>
            <a:off x="457200" y="1280160"/>
            <a:ext cx="4023360" cy="3108960"/>
          </a:xfrm>
          <a:prstGeom prst="rect">
            <a:avLst/>
          </a:prstGeom>
          <a:solidFill>
            <a:srgbClr val="F0F4F8"/>
          </a:solidFill>
          <a:ln w="12700">
            <a:solidFill>
              <a:srgbClr val="F0F4F8"/>
            </a:solidFill>
            <a:prstDash val="solid"/>
          </a:ln>
        </p:spPr>
        <p:txBody>
          <a:bodyPr/>
          <a:lstStyle/>
          <a:p>
            <a:endParaRPr lang="en-IN"/>
          </a:p>
        </p:txBody>
      </p:sp>
      <p:sp>
        <p:nvSpPr>
          <p:cNvPr id="4" name="Text 2"/>
          <p:cNvSpPr txBox="1"/>
          <p:nvPr/>
        </p:nvSpPr>
        <p:spPr>
          <a:xfrm>
            <a:off x="685800" y="1417320"/>
            <a:ext cx="3566160" cy="411480"/>
          </a:xfrm>
          <a:prstGeom prst="rect">
            <a:avLst/>
          </a:prstGeom>
          <a:noFill/>
          <a:ln/>
        </p:spPr>
        <p:txBody>
          <a:bodyPr wrap="square" lIns="0" tIns="0" rIns="0" bIns="0" rtlCol="0" anchor="ctr"/>
          <a:lstStyle/>
          <a:p>
            <a:pPr marL="0" indent="0">
              <a:buNone/>
            </a:pPr>
            <a:r>
              <a:rPr lang="en-US" sz="2200" b="1" dirty="0">
                <a:solidFill>
                  <a:srgbClr val="2E75B6"/>
                </a:solidFill>
                <a:latin typeface="Arial" pitchFamily="34" charset="0"/>
                <a:ea typeface="Arial" pitchFamily="34" charset="-122"/>
                <a:cs typeface="Arial" pitchFamily="34" charset="-120"/>
              </a:rPr>
              <a:t>Catalysts to watch</a:t>
            </a:r>
            <a:endParaRPr lang="en-US" sz="2200" dirty="0"/>
          </a:p>
        </p:txBody>
      </p:sp>
      <p:sp>
        <p:nvSpPr>
          <p:cNvPr id="5" name="Text 3"/>
          <p:cNvSpPr txBox="1"/>
          <p:nvPr/>
        </p:nvSpPr>
        <p:spPr>
          <a:xfrm>
            <a:off x="685800" y="1965960"/>
            <a:ext cx="3566160" cy="228600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Billed folios +46% YoY to 33.3 crore</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7,079 unlisted companies admitted in H1 FY26</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Margin stabilisation</a:t>
            </a:r>
            <a:endParaRPr lang="en-US" sz="2000" dirty="0"/>
          </a:p>
        </p:txBody>
      </p:sp>
      <p:sp>
        <p:nvSpPr>
          <p:cNvPr id="6" name="Shape 4"/>
          <p:cNvSpPr/>
          <p:nvPr/>
        </p:nvSpPr>
        <p:spPr>
          <a:xfrm>
            <a:off x="4663440" y="1280160"/>
            <a:ext cx="4023360" cy="3108960"/>
          </a:xfrm>
          <a:prstGeom prst="rect">
            <a:avLst/>
          </a:prstGeom>
          <a:solidFill>
            <a:srgbClr val="F0F4F8"/>
          </a:solidFill>
          <a:ln w="12700">
            <a:solidFill>
              <a:srgbClr val="F0F4F8"/>
            </a:solidFill>
            <a:prstDash val="solid"/>
          </a:ln>
        </p:spPr>
        <p:txBody>
          <a:bodyPr/>
          <a:lstStyle/>
          <a:p>
            <a:endParaRPr lang="en-IN"/>
          </a:p>
        </p:txBody>
      </p:sp>
      <p:sp>
        <p:nvSpPr>
          <p:cNvPr id="7" name="Text 5"/>
          <p:cNvSpPr txBox="1"/>
          <p:nvPr/>
        </p:nvSpPr>
        <p:spPr>
          <a:xfrm>
            <a:off x="4892040" y="1417320"/>
            <a:ext cx="3566160" cy="411480"/>
          </a:xfrm>
          <a:prstGeom prst="rect">
            <a:avLst/>
          </a:prstGeom>
          <a:noFill/>
          <a:ln/>
        </p:spPr>
        <p:txBody>
          <a:bodyPr wrap="square" lIns="0" tIns="0" rIns="0" bIns="0" rtlCol="0" anchor="ctr"/>
          <a:lstStyle/>
          <a:p>
            <a:pPr marL="0" indent="0">
              <a:buNone/>
            </a:pPr>
            <a:r>
              <a:rPr lang="en-US" sz="2200" b="1" dirty="0">
                <a:solidFill>
                  <a:srgbClr val="2E75B6"/>
                </a:solidFill>
                <a:latin typeface="Arial" pitchFamily="34" charset="0"/>
                <a:ea typeface="Arial" pitchFamily="34" charset="-122"/>
                <a:cs typeface="Arial" pitchFamily="34" charset="-120"/>
              </a:rPr>
              <a:t>Limitations</a:t>
            </a:r>
            <a:endParaRPr lang="en-US" sz="2200" dirty="0"/>
          </a:p>
        </p:txBody>
      </p:sp>
      <p:sp>
        <p:nvSpPr>
          <p:cNvPr id="8" name="Text 6"/>
          <p:cNvSpPr txBox="1"/>
          <p:nvPr/>
        </p:nvSpPr>
        <p:spPr>
          <a:xfrm>
            <a:off x="4892040" y="1965960"/>
            <a:ext cx="3566160" cy="228600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One peer (NSDL) in the cross-check</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81% of DCF value is terminal</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Margin path is an assumption</a:t>
            </a:r>
            <a:endParaRPr lang="en-US" sz="2000" dirty="0"/>
          </a:p>
        </p:txBody>
      </p:sp>
      <p:sp>
        <p:nvSpPr>
          <p:cNvPr id="9" name="Text 7"/>
          <p:cNvSpPr txBox="1"/>
          <p:nvPr/>
        </p:nvSpPr>
        <p:spPr>
          <a:xfrm>
            <a:off x="457200" y="4681728"/>
            <a:ext cx="7680960" cy="274320"/>
          </a:xfrm>
          <a:prstGeom prst="rect">
            <a:avLst/>
          </a:prstGeom>
          <a:noFill/>
          <a:ln/>
        </p:spPr>
        <p:txBody>
          <a:bodyPr wrap="square" lIns="0" tIns="0" rIns="0" bIns="0" rtlCol="0" anchor="ctr"/>
          <a:lstStyle/>
          <a:p>
            <a:pPr marL="0" indent="0">
              <a:buNone/>
            </a:pPr>
            <a:r>
              <a:rPr lang="en-US" sz="1200" dirty="0">
                <a:solidFill>
                  <a:srgbClr val="6B6B6B"/>
                </a:solidFill>
                <a:latin typeface="Arial" pitchFamily="34" charset="0"/>
                <a:ea typeface="Arial" pitchFamily="34" charset="-122"/>
                <a:cs typeface="Arial" pitchFamily="34" charset="-120"/>
              </a:rPr>
              <a:t>Source: FSF Project 5 (catalysts, risks); CDSL H1 FY26 disclosures.</a:t>
            </a:r>
            <a:endParaRPr lang="en-US" sz="1200" dirty="0"/>
          </a:p>
        </p:txBody>
      </p:sp>
      <p:sp>
        <p:nvSpPr>
          <p:cNvPr id="25" name="Slide Number Placeholder 0"/>
          <p:cNvSpPr>
            <a:spLocks noGrp="1"/>
          </p:cNvSpPr>
          <p:nvPr>
            <p:ph type="sldNum" sz="quarter" idx="4294967295"/>
          </p:nvPr>
        </p:nvSpPr>
        <p:spPr>
          <a:xfrm>
            <a:off x="8321040" y="4709160"/>
            <a:ext cx="365760" cy="2286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6B6B"/>
                </a:solidFill>
                <a:latin typeface="Arial"/>
                <a:ea typeface="Arial"/>
                <a:cs typeface="Aria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4E79"/>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411480"/>
          </a:xfrm>
          <a:prstGeom prst="rect">
            <a:avLst/>
          </a:prstGeom>
          <a:noFill/>
          <a:ln/>
        </p:spPr>
        <p:txBody>
          <a:bodyPr wrap="square" lIns="0" tIns="0" rIns="0" bIns="0" rtlCol="0" anchor="ctr"/>
          <a:lstStyle/>
          <a:p>
            <a:pPr marL="0" indent="0">
              <a:buNone/>
            </a:pPr>
            <a:r>
              <a:rPr lang="en-US" sz="2000" dirty="0">
                <a:solidFill>
                  <a:srgbClr val="A0BBDD"/>
                </a:solidFill>
                <a:latin typeface="Arial" pitchFamily="34" charset="0"/>
                <a:ea typeface="Arial" pitchFamily="34" charset="-122"/>
                <a:cs typeface="Arial" pitchFamily="34" charset="-120"/>
              </a:rPr>
              <a:t>Conclusions</a:t>
            </a:r>
            <a:endParaRPr lang="en-US" sz="2000" dirty="0"/>
          </a:p>
        </p:txBody>
      </p:sp>
      <p:sp>
        <p:nvSpPr>
          <p:cNvPr id="3" name="Text 1"/>
          <p:cNvSpPr txBox="1"/>
          <p:nvPr/>
        </p:nvSpPr>
        <p:spPr>
          <a:xfrm>
            <a:off x="457200" y="914400"/>
            <a:ext cx="8229600" cy="2743200"/>
          </a:xfrm>
          <a:prstGeom prst="rect">
            <a:avLst/>
          </a:prstGeom>
          <a:noFill/>
          <a:ln/>
        </p:spPr>
        <p:txBody>
          <a:bodyPr wrap="square" lIns="0" tIns="0" rIns="0" bIns="0" rtlCol="0" anchor="t"/>
          <a:lstStyle/>
          <a:p>
            <a:pPr marL="0" indent="0">
              <a:spcAft>
                <a:spcPts val="2200"/>
              </a:spcAft>
              <a:buNone/>
            </a:pPr>
            <a:r>
              <a:rPr lang="en-US" sz="2200" b="1" dirty="0">
                <a:solidFill>
                  <a:srgbClr val="FFFFFF"/>
                </a:solidFill>
                <a:latin typeface="Arial" pitchFamily="34" charset="0"/>
                <a:ea typeface="Arial" pitchFamily="34" charset="-122"/>
                <a:cs typeface="Arial" pitchFamily="34" charset="-120"/>
              </a:rPr>
              <a:t>1. The franchise is strong: </a:t>
            </a:r>
            <a:r>
              <a:rPr lang="en-US" sz="2200" dirty="0">
                <a:solidFill>
                  <a:srgbClr val="FFFFFF"/>
                </a:solidFill>
                <a:latin typeface="Arial" pitchFamily="34" charset="0"/>
                <a:ea typeface="Arial" pitchFamily="34" charset="-122"/>
                <a:cs typeface="Arial" pitchFamily="34" charset="-120"/>
              </a:rPr>
              <a:t>~80% demat share, ROE 31%, no debt.</a:t>
            </a:r>
            <a:endParaRPr lang="en-US" sz="2200" dirty="0"/>
          </a:p>
          <a:p>
            <a:pPr marL="0" indent="0">
              <a:spcAft>
                <a:spcPts val="2200"/>
              </a:spcAft>
              <a:buNone/>
            </a:pPr>
            <a:r>
              <a:rPr lang="en-US" sz="2200" b="1" dirty="0">
                <a:solidFill>
                  <a:srgbClr val="FFFFFF"/>
                </a:solidFill>
                <a:latin typeface="Arial" pitchFamily="34" charset="0"/>
                <a:ea typeface="Arial" pitchFamily="34" charset="-122"/>
                <a:cs typeface="Arial" pitchFamily="34" charset="-120"/>
              </a:rPr>
              <a:t>2. Growth and margins are fading: </a:t>
            </a:r>
            <a:r>
              <a:rPr lang="en-US" sz="2200" dirty="0">
                <a:solidFill>
                  <a:srgbClr val="FFFFFF"/>
                </a:solidFill>
                <a:latin typeface="Arial" pitchFamily="34" charset="0"/>
                <a:ea typeface="Arial" pitchFamily="34" charset="-122"/>
                <a:cs typeface="Arial" pitchFamily="34" charset="-120"/>
              </a:rPr>
              <a:t>EBITDA margin fell from 83.8% to 68.5%.</a:t>
            </a:r>
            <a:endParaRPr lang="en-US" sz="2200" dirty="0"/>
          </a:p>
          <a:p>
            <a:pPr marL="0" indent="0">
              <a:spcAft>
                <a:spcPts val="2200"/>
              </a:spcAft>
              <a:buNone/>
            </a:pPr>
            <a:r>
              <a:rPr lang="en-US" sz="2200" b="1" dirty="0">
                <a:solidFill>
                  <a:srgbClr val="FFFFFF"/>
                </a:solidFill>
                <a:latin typeface="Arial" pitchFamily="34" charset="0"/>
                <a:ea typeface="Arial" pitchFamily="34" charset="-122"/>
                <a:cs typeface="Arial" pitchFamily="34" charset="-120"/>
              </a:rPr>
              <a:t>3. The price is too high: </a:t>
            </a:r>
            <a:r>
              <a:rPr lang="en-US" sz="2200" dirty="0">
                <a:solidFill>
                  <a:srgbClr val="FFFFFF"/>
                </a:solidFill>
                <a:latin typeface="Arial" pitchFamily="34" charset="0"/>
                <a:ea typeface="Arial" pitchFamily="34" charset="-122"/>
                <a:cs typeface="Arial" pitchFamily="34" charset="-120"/>
              </a:rPr>
              <a:t>every method is below ₹1,414.70. Sell, target ₹875 (−38%).</a:t>
            </a:r>
            <a:endParaRPr lang="en-US" sz="2200" dirty="0"/>
          </a:p>
        </p:txBody>
      </p:sp>
      <p:sp>
        <p:nvSpPr>
          <p:cNvPr id="4" name="Text 2"/>
          <p:cNvSpPr txBox="1"/>
          <p:nvPr/>
        </p:nvSpPr>
        <p:spPr>
          <a:xfrm>
            <a:off x="457200" y="4160520"/>
            <a:ext cx="8229600" cy="320040"/>
          </a:xfrm>
          <a:prstGeom prst="rect">
            <a:avLst/>
          </a:prstGeom>
          <a:noFill/>
          <a:ln/>
        </p:spPr>
        <p:txBody>
          <a:bodyPr wrap="square" lIns="0" tIns="0" rIns="0" bIns="0" rtlCol="0" anchor="ctr"/>
          <a:lstStyle/>
          <a:p>
            <a:pPr marL="0" indent="0">
              <a:buNone/>
            </a:pPr>
            <a:r>
              <a:rPr lang="en-US" sz="1400" dirty="0">
                <a:solidFill>
                  <a:srgbClr val="A0BBDD"/>
                </a:solidFill>
                <a:latin typeface="Arial" pitchFamily="34" charset="0"/>
                <a:ea typeface="Arial" pitchFamily="34" charset="-122"/>
                <a:cs typeface="Arial" pitchFamily="34" charset="-120"/>
              </a:rPr>
              <a:t>varadsrivastavaofficial@gmail.com  |  IISER Bhopal </a:t>
            </a:r>
            <a:endParaRPr lang="en-US" sz="1400" dirty="0"/>
          </a:p>
        </p:txBody>
      </p:sp>
      <p:sp>
        <p:nvSpPr>
          <p:cNvPr id="5" name="Text 3"/>
          <p:cNvSpPr txBox="1"/>
          <p:nvPr/>
        </p:nvSpPr>
        <p:spPr>
          <a:xfrm>
            <a:off x="457200" y="4526280"/>
            <a:ext cx="8229600" cy="274320"/>
          </a:xfrm>
          <a:prstGeom prst="rect">
            <a:avLst/>
          </a:prstGeom>
          <a:noFill/>
          <a:ln/>
        </p:spPr>
        <p:txBody>
          <a:bodyPr wrap="square" lIns="0" tIns="0" rIns="0" bIns="0" rtlCol="0" anchor="ctr"/>
          <a:lstStyle/>
          <a:p>
            <a:pPr marL="0" indent="0">
              <a:buNone/>
            </a:pPr>
            <a:r>
              <a:rPr lang="en-US" sz="1200" dirty="0">
                <a:solidFill>
                  <a:srgbClr val="A0BBDD"/>
                </a:solidFill>
                <a:latin typeface="Arial" pitchFamily="34" charset="0"/>
                <a:ea typeface="Arial" pitchFamily="34" charset="-122"/>
                <a:cs typeface="Arial" pitchFamily="34" charset="-120"/>
              </a:rPr>
              <a:t>Academic research only, not an investment recommendation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1A3A5C"/>
        </a:solidFill>
        <a:effectLst/>
      </p:bgPr>
    </p:bg>
    <p:spTree>
      <p:nvGrpSpPr>
        <p:cNvPr id="1" name=""/>
        <p:cNvGrpSpPr/>
        <p:nvPr/>
      </p:nvGrpSpPr>
      <p:grpSpPr>
        <a:xfrm>
          <a:off x="0" y="0"/>
          <a:ext cx="0" cy="0"/>
          <a:chOff x="0" y="0"/>
          <a:chExt cx="0" cy="0"/>
        </a:xfrm>
      </p:grpSpPr>
      <p:sp>
        <p:nvSpPr>
          <p:cNvPr id="2" name="Text 0"/>
          <p:cNvSpPr txBox="1"/>
          <p:nvPr/>
        </p:nvSpPr>
        <p:spPr>
          <a:xfrm>
            <a:off x="457200" y="1828800"/>
            <a:ext cx="8229600" cy="822960"/>
          </a:xfrm>
          <a:prstGeom prst="rect">
            <a:avLst/>
          </a:prstGeom>
          <a:noFill/>
          <a:ln/>
        </p:spPr>
        <p:txBody>
          <a:bodyPr wrap="square" lIns="0" tIns="0" rIns="0" bIns="0" rtlCol="0" anchor="ctr"/>
          <a:lstStyle/>
          <a:p>
            <a:pPr marL="0" indent="0">
              <a:buNone/>
            </a:pPr>
            <a:r>
              <a:rPr lang="en-US" sz="3600" b="1" dirty="0">
                <a:solidFill>
                  <a:srgbClr val="FFFFFF"/>
                </a:solidFill>
                <a:latin typeface="Arial" pitchFamily="34" charset="0"/>
                <a:ea typeface="Arial" pitchFamily="34" charset="-122"/>
                <a:cs typeface="Arial" pitchFamily="34" charset="-120"/>
              </a:rPr>
              <a:t>Appendix</a:t>
            </a:r>
            <a:endParaRPr lang="en-US" sz="3600" dirty="0"/>
          </a:p>
        </p:txBody>
      </p:sp>
      <p:sp>
        <p:nvSpPr>
          <p:cNvPr id="3" name="Text 1"/>
          <p:cNvSpPr txBox="1"/>
          <p:nvPr/>
        </p:nvSpPr>
        <p:spPr>
          <a:xfrm>
            <a:off x="457200" y="2697480"/>
            <a:ext cx="8229600" cy="365760"/>
          </a:xfrm>
          <a:prstGeom prst="rect">
            <a:avLst/>
          </a:prstGeom>
          <a:noFill/>
          <a:ln/>
        </p:spPr>
        <p:txBody>
          <a:bodyPr wrap="square" lIns="0" tIns="0" rIns="0" bIns="0" rtlCol="0" anchor="ctr"/>
          <a:lstStyle/>
          <a:p>
            <a:pPr marL="0" indent="0">
              <a:buNone/>
            </a:pP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37160"/>
            <a:ext cx="8229600" cy="274320"/>
          </a:xfrm>
          <a:prstGeom prst="rect">
            <a:avLst/>
          </a:prstGeom>
          <a:noFill/>
          <a:ln/>
        </p:spPr>
        <p:txBody>
          <a:bodyPr wrap="square" lIns="0" tIns="0" rIns="0" bIns="0" rtlCol="0" anchor="ctr"/>
          <a:lstStyle/>
          <a:p>
            <a:pPr marL="0" indent="0">
              <a:buNone/>
            </a:pPr>
            <a:r>
              <a:rPr lang="en-US" sz="1400" i="1" dirty="0">
                <a:solidFill>
                  <a:srgbClr val="6B6B6B"/>
                </a:solidFill>
                <a:latin typeface="Arial" pitchFamily="34" charset="0"/>
                <a:ea typeface="Arial" pitchFamily="34" charset="-122"/>
                <a:cs typeface="Arial" pitchFamily="34" charset="-120"/>
              </a:rPr>
              <a:t>Appendix A: Business model</a:t>
            </a:r>
            <a:endParaRPr lang="en-US" sz="1400" dirty="0"/>
          </a:p>
        </p:txBody>
      </p:sp>
      <p:sp>
        <p:nvSpPr>
          <p:cNvPr id="3" name="Text 1"/>
          <p:cNvSpPr txBox="1"/>
          <p:nvPr/>
        </p:nvSpPr>
        <p:spPr>
          <a:xfrm>
            <a:off x="457200" y="457200"/>
            <a:ext cx="8229600" cy="822960"/>
          </a:xfrm>
          <a:prstGeom prst="rect">
            <a:avLst/>
          </a:prstGeom>
          <a:noFill/>
          <a:ln/>
        </p:spPr>
        <p:txBody>
          <a:bodyPr wrap="square" lIns="0" tIns="0" rIns="0" bIns="0" rtlCol="0" anchor="t"/>
          <a:lstStyle/>
          <a:p>
            <a:pPr marL="0" indent="0">
              <a:buNone/>
            </a:pPr>
            <a:r>
              <a:rPr lang="en-US" sz="2200" b="1" dirty="0">
                <a:solidFill>
                  <a:srgbClr val="1F4E79"/>
                </a:solidFill>
                <a:latin typeface="Arial" pitchFamily="34" charset="0"/>
                <a:ea typeface="Arial" pitchFamily="34" charset="-122"/>
                <a:cs typeface="Arial" pitchFamily="34" charset="-120"/>
              </a:rPr>
              <a:t>CDSL's franchise extends beyond demat accounts into KYC, insurance and e-voting</a:t>
            </a:r>
            <a:endParaRPr lang="en-US" sz="2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3072384"/>
        </p:xfrm>
        <a:graphic>
          <a:graphicData uri="http://schemas.openxmlformats.org/drawingml/2006/table">
            <a:tbl>
              <a:tblPr/>
              <a:tblGrid>
                <a:gridCol w="256032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tblGrid>
              <a:tr h="384048">
                <a:tc>
                  <a:txBody>
                    <a:bodyPr/>
                    <a:lstStyle/>
                    <a:p>
                      <a:pPr marL="0" indent="0">
                        <a:buNone/>
                      </a:pPr>
                      <a:r>
                        <a:rPr lang="en-US" sz="1400" b="1" dirty="0">
                          <a:solidFill>
                            <a:srgbClr val="FFFFFF"/>
                          </a:solidFill>
                          <a:latin typeface="Arial" pitchFamily="34" charset="0"/>
                          <a:ea typeface="Arial" pitchFamily="34" charset="-122"/>
                          <a:cs typeface="Arial" pitchFamily="34" charset="-120"/>
                        </a:rPr>
                        <a:t>Service</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solidFill>
                      <a:srgbClr val="1F4E79"/>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What it does</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384048">
                <a:tc>
                  <a:txBody>
                    <a:bodyPr/>
                    <a:lstStyle/>
                    <a:p>
                      <a:pPr marL="0" indent="0">
                        <a:buNone/>
                      </a:pPr>
                      <a:r>
                        <a:rPr lang="en-US" sz="1400" dirty="0">
                          <a:solidFill>
                            <a:srgbClr val="2D2D2D"/>
                          </a:solidFill>
                          <a:latin typeface="Arial" pitchFamily="34" charset="0"/>
                          <a:ea typeface="Arial" pitchFamily="34" charset="-122"/>
                          <a:cs typeface="Arial" pitchFamily="34" charset="-120"/>
                        </a:rPr>
                        <a:t>Demat accounts</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Hold shares, bonds and ETFs electronically</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400" dirty="0">
                          <a:solidFill>
                            <a:srgbClr val="2D2D2D"/>
                          </a:solidFill>
                          <a:latin typeface="Arial" pitchFamily="34" charset="0"/>
                          <a:ea typeface="Arial" pitchFamily="34" charset="-122"/>
                          <a:cs typeface="Arial" pitchFamily="34" charset="-120"/>
                        </a:rPr>
                        <a:t>Demat and remat</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Convert physical securities to electronic form and back</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400" dirty="0">
                          <a:solidFill>
                            <a:srgbClr val="2D2D2D"/>
                          </a:solidFill>
                          <a:latin typeface="Arial" pitchFamily="34" charset="0"/>
                          <a:ea typeface="Arial" pitchFamily="34" charset="-122"/>
                          <a:cs typeface="Arial" pitchFamily="34" charset="-120"/>
                        </a:rPr>
                        <a:t>Settlement</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Transfer and settle securities after trades</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400" dirty="0">
                          <a:solidFill>
                            <a:srgbClr val="2D2D2D"/>
                          </a:solidFill>
                          <a:latin typeface="Arial" pitchFamily="34" charset="0"/>
                          <a:ea typeface="Arial" pitchFamily="34" charset="-122"/>
                          <a:cs typeface="Arial" pitchFamily="34" charset="-120"/>
                        </a:rPr>
                        <a:t>KYC (CDSL Ventures)</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KYC registration for capital-market participants</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400" dirty="0">
                          <a:solidFill>
                            <a:srgbClr val="2D2D2D"/>
                          </a:solidFill>
                          <a:latin typeface="Arial" pitchFamily="34" charset="0"/>
                          <a:ea typeface="Arial" pitchFamily="34" charset="-122"/>
                          <a:cs typeface="Arial" pitchFamily="34" charset="-120"/>
                        </a:rPr>
                        <a:t>Insurance repository</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Hold and service insurance policies electronically</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400" dirty="0">
                          <a:solidFill>
                            <a:srgbClr val="2D2D2D"/>
                          </a:solidFill>
                          <a:latin typeface="Arial" pitchFamily="34" charset="0"/>
                          <a:ea typeface="Arial" pitchFamily="34" charset="-122"/>
                          <a:cs typeface="Arial" pitchFamily="34" charset="-120"/>
                        </a:rPr>
                        <a:t>e-voting</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Shareholders vote electronically on resolutions</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400" dirty="0">
                          <a:solidFill>
                            <a:srgbClr val="2D2D2D"/>
                          </a:solidFill>
                          <a:latin typeface="Arial" pitchFamily="34" charset="0"/>
                          <a:ea typeface="Arial" pitchFamily="34" charset="-122"/>
                          <a:cs typeface="Arial" pitchFamily="34" charset="-120"/>
                        </a:rPr>
                        <a:t>Issuer services</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Dividends, bonuses, rights issues and other corporate actions</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txBox="1"/>
          <p:nvPr/>
        </p:nvSpPr>
        <p:spPr>
          <a:xfrm>
            <a:off x="457200" y="4681728"/>
            <a:ext cx="7680960" cy="274320"/>
          </a:xfrm>
          <a:prstGeom prst="rect">
            <a:avLst/>
          </a:prstGeom>
          <a:noFill/>
          <a:ln/>
        </p:spPr>
        <p:txBody>
          <a:bodyPr wrap="square" lIns="0" tIns="0" rIns="0" bIns="0" rtlCol="0" anchor="ctr"/>
          <a:lstStyle/>
          <a:p>
            <a:pPr marL="0" indent="0">
              <a:buNone/>
            </a:pPr>
            <a:r>
              <a:rPr lang="en-US" sz="1200" dirty="0">
                <a:solidFill>
                  <a:srgbClr val="6B6B6B"/>
                </a:solidFill>
                <a:latin typeface="Arial" pitchFamily="34" charset="0"/>
                <a:ea typeface="Arial" pitchFamily="34" charset="-122"/>
                <a:cs typeface="Arial" pitchFamily="34" charset="-120"/>
              </a:rPr>
              <a:t>Source: FSF Project 3 (industry and competitive analysis); CDSL Annual Report 2025-26.</a:t>
            </a:r>
            <a:endParaRPr lang="en-US" sz="1200" dirty="0"/>
          </a:p>
        </p:txBody>
      </p:sp>
      <p:sp>
        <p:nvSpPr>
          <p:cNvPr id="25" name="Slide Number Placeholder 0"/>
          <p:cNvSpPr>
            <a:spLocks noGrp="1"/>
          </p:cNvSpPr>
          <p:nvPr>
            <p:ph type="sldNum" sz="quarter" idx="4294967295"/>
          </p:nvPr>
        </p:nvSpPr>
        <p:spPr>
          <a:xfrm>
            <a:off x="8321040" y="4709160"/>
            <a:ext cx="365760" cy="2286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6B6B"/>
                </a:solidFill>
                <a:latin typeface="Arial"/>
                <a:ea typeface="Arial"/>
                <a:cs typeface="Aria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37160"/>
            <a:ext cx="8229600" cy="274320"/>
          </a:xfrm>
          <a:prstGeom prst="rect">
            <a:avLst/>
          </a:prstGeom>
          <a:noFill/>
          <a:ln/>
        </p:spPr>
        <p:txBody>
          <a:bodyPr wrap="square" lIns="0" tIns="0" rIns="0" bIns="0" rtlCol="0" anchor="ctr"/>
          <a:lstStyle/>
          <a:p>
            <a:pPr marL="0" indent="0">
              <a:buNone/>
            </a:pPr>
            <a:r>
              <a:rPr lang="en-US" sz="1400" i="1" dirty="0">
                <a:solidFill>
                  <a:srgbClr val="6B6B6B"/>
                </a:solidFill>
                <a:latin typeface="Arial" pitchFamily="34" charset="0"/>
                <a:ea typeface="Arial" pitchFamily="34" charset="-122"/>
                <a:cs typeface="Arial" pitchFamily="34" charset="-120"/>
              </a:rPr>
              <a:t>Appendix B: Comparable valuation</a:t>
            </a:r>
            <a:endParaRPr lang="en-US" sz="1400" dirty="0"/>
          </a:p>
        </p:txBody>
      </p:sp>
      <p:sp>
        <p:nvSpPr>
          <p:cNvPr id="3" name="Text 1"/>
          <p:cNvSpPr txBox="1"/>
          <p:nvPr/>
        </p:nvSpPr>
        <p:spPr>
          <a:xfrm>
            <a:off x="457200" y="457200"/>
            <a:ext cx="8229600" cy="822960"/>
          </a:xfrm>
          <a:prstGeom prst="rect">
            <a:avLst/>
          </a:prstGeom>
          <a:noFill/>
          <a:ln/>
        </p:spPr>
        <p:txBody>
          <a:bodyPr wrap="square" lIns="0" tIns="0" rIns="0" bIns="0" rtlCol="0" anchor="t"/>
          <a:lstStyle/>
          <a:p>
            <a:pPr marL="0" indent="0">
              <a:buNone/>
            </a:pPr>
            <a:r>
              <a:rPr lang="en-US" sz="2200" b="1" dirty="0">
                <a:solidFill>
                  <a:srgbClr val="1F4E79"/>
                </a:solidFill>
                <a:latin typeface="Arial" pitchFamily="34" charset="0"/>
                <a:ea typeface="Arial" pitchFamily="34" charset="-122"/>
                <a:cs typeface="Arial" pitchFamily="34" charset="-120"/>
              </a:rPr>
              <a:t>CDSL trades at a 24% to 115% premium to NSDL on every multiple</a:t>
            </a:r>
            <a:endParaRPr lang="en-US" sz="2200" dirty="0"/>
          </a:p>
        </p:txBody>
      </p:sp>
      <p:graphicFrame>
        <p:nvGraphicFramePr>
          <p:cNvPr id="4" name="Chart 0"/>
          <p:cNvGraphicFramePr/>
          <p:nvPr/>
        </p:nvGraphicFramePr>
        <p:xfrm>
          <a:off x="457200" y="1371600"/>
          <a:ext cx="4846320" cy="31546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5577840" y="1417320"/>
            <a:ext cx="3108960" cy="2926080"/>
          </a:xfrm>
          <a:prstGeom prst="rect">
            <a:avLst/>
          </a:prstGeom>
          <a:noFill/>
          <a:ln/>
        </p:spPr>
        <p:txBody>
          <a:bodyPr wrap="square" lIns="0" tIns="0" rIns="0" bIns="0" rtlCol="0" anchor="t"/>
          <a:lstStyle/>
          <a:p>
            <a:pPr marL="342900" indent="-342900">
              <a:spcAft>
                <a:spcPts val="1200"/>
              </a:spcAft>
              <a:buSzPct val="100000"/>
              <a:buChar char="•"/>
            </a:pPr>
            <a:r>
              <a:rPr lang="en-US" sz="2000" b="1" dirty="0">
                <a:solidFill>
                  <a:srgbClr val="2D2D2D"/>
                </a:solidFill>
                <a:latin typeface="Arial" pitchFamily="34" charset="0"/>
                <a:ea typeface="Arial" pitchFamily="34" charset="-122"/>
                <a:cs typeface="Arial" pitchFamily="34" charset="-120"/>
              </a:rPr>
              <a:t>Premium: </a:t>
            </a:r>
            <a:r>
              <a:rPr lang="en-US" sz="2000" dirty="0">
                <a:solidFill>
                  <a:srgbClr val="2D2D2D"/>
                </a:solidFill>
                <a:latin typeface="Arial" pitchFamily="34" charset="0"/>
                <a:ea typeface="Arial" pitchFamily="34" charset="-122"/>
                <a:cs typeface="Arial" pitchFamily="34" charset="-120"/>
              </a:rPr>
              <a:t>24% P/E, 52% EV/EBITDA, 115% P/B</a:t>
            </a:r>
            <a:endParaRPr lang="en-US" sz="2000" dirty="0"/>
          </a:p>
          <a:p>
            <a:pPr marL="342900" indent="-342900">
              <a:spcAft>
                <a:spcPts val="1200"/>
              </a:spcAft>
              <a:buSzPct val="100000"/>
              <a:buChar char="•"/>
            </a:pPr>
            <a:r>
              <a:rPr lang="en-US" sz="2000" b="1" dirty="0">
                <a:solidFill>
                  <a:srgbClr val="2D2D2D"/>
                </a:solidFill>
                <a:latin typeface="Arial" pitchFamily="34" charset="0"/>
                <a:ea typeface="Arial" pitchFamily="34" charset="-122"/>
                <a:cs typeface="Arial" pitchFamily="34" charset="-120"/>
              </a:rPr>
              <a:t>Implied price: </a:t>
            </a:r>
            <a:r>
              <a:rPr lang="en-US" sz="2000" dirty="0">
                <a:solidFill>
                  <a:srgbClr val="2D2D2D"/>
                </a:solidFill>
                <a:latin typeface="Arial" pitchFamily="34" charset="0"/>
                <a:ea typeface="Arial" pitchFamily="34" charset="-122"/>
                <a:cs typeface="Arial" pitchFamily="34" charset="-120"/>
              </a:rPr>
              <a:t>₹1,142 (P/E), ₹946 (EV/EBITDA)</a:t>
            </a:r>
            <a:endParaRPr lang="en-US" sz="2000" dirty="0"/>
          </a:p>
        </p:txBody>
      </p:sp>
      <p:sp>
        <p:nvSpPr>
          <p:cNvPr id="6" name="Text 3"/>
          <p:cNvSpPr txBox="1"/>
          <p:nvPr/>
        </p:nvSpPr>
        <p:spPr>
          <a:xfrm>
            <a:off x="457200" y="4681728"/>
            <a:ext cx="7680960" cy="274320"/>
          </a:xfrm>
          <a:prstGeom prst="rect">
            <a:avLst/>
          </a:prstGeom>
          <a:noFill/>
          <a:ln/>
        </p:spPr>
        <p:txBody>
          <a:bodyPr wrap="square" lIns="0" tIns="0" rIns="0" bIns="0" rtlCol="0" anchor="ctr"/>
          <a:lstStyle/>
          <a:p>
            <a:pPr marL="0" indent="0">
              <a:buNone/>
            </a:pPr>
            <a:r>
              <a:rPr lang="en-US" sz="1200" dirty="0">
                <a:solidFill>
                  <a:srgbClr val="6B6B6B"/>
                </a:solidFill>
                <a:latin typeface="Arial" pitchFamily="34" charset="0"/>
                <a:ea typeface="Arial" pitchFamily="34" charset="-122"/>
                <a:cs typeface="Arial" pitchFamily="34" charset="-120"/>
              </a:rPr>
              <a:t>Source: FSF Project 4 comparable valuation (NSDL as sole direct peer).</a:t>
            </a:r>
            <a:endParaRPr lang="en-US" sz="1200" dirty="0"/>
          </a:p>
        </p:txBody>
      </p:sp>
      <p:sp>
        <p:nvSpPr>
          <p:cNvPr id="25" name="Slide Number Placeholder 0"/>
          <p:cNvSpPr>
            <a:spLocks noGrp="1"/>
          </p:cNvSpPr>
          <p:nvPr>
            <p:ph type="sldNum" sz="quarter" idx="4294967295"/>
          </p:nvPr>
        </p:nvSpPr>
        <p:spPr>
          <a:xfrm>
            <a:off x="8321040" y="4709160"/>
            <a:ext cx="365760" cy="2286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6B6B"/>
                </a:solidFill>
                <a:latin typeface="Arial"/>
                <a:ea typeface="Arial"/>
                <a:cs typeface="Aria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37160"/>
            <a:ext cx="8229600" cy="274320"/>
          </a:xfrm>
          <a:prstGeom prst="rect">
            <a:avLst/>
          </a:prstGeom>
          <a:noFill/>
          <a:ln/>
        </p:spPr>
        <p:txBody>
          <a:bodyPr wrap="square" lIns="0" tIns="0" rIns="0" bIns="0" rtlCol="0" anchor="ctr"/>
          <a:lstStyle/>
          <a:p>
            <a:pPr marL="0" indent="0">
              <a:buNone/>
            </a:pPr>
            <a:r>
              <a:rPr lang="en-US" sz="1400" i="1" dirty="0">
                <a:solidFill>
                  <a:srgbClr val="6B6B6B"/>
                </a:solidFill>
                <a:latin typeface="Arial" pitchFamily="34" charset="0"/>
                <a:ea typeface="Arial" pitchFamily="34" charset="-122"/>
                <a:cs typeface="Arial" pitchFamily="34" charset="-120"/>
              </a:rPr>
              <a:t>Appendix C: DCF assumptions</a:t>
            </a:r>
            <a:endParaRPr lang="en-US" sz="1400" dirty="0"/>
          </a:p>
        </p:txBody>
      </p:sp>
      <p:sp>
        <p:nvSpPr>
          <p:cNvPr id="3" name="Text 1"/>
          <p:cNvSpPr txBox="1"/>
          <p:nvPr/>
        </p:nvSpPr>
        <p:spPr>
          <a:xfrm>
            <a:off x="457200" y="457200"/>
            <a:ext cx="8229600" cy="822960"/>
          </a:xfrm>
          <a:prstGeom prst="rect">
            <a:avLst/>
          </a:prstGeom>
          <a:noFill/>
          <a:ln/>
        </p:spPr>
        <p:txBody>
          <a:bodyPr wrap="square" lIns="0" tIns="0" rIns="0" bIns="0" rtlCol="0" anchor="t"/>
          <a:lstStyle/>
          <a:p>
            <a:pPr marL="0" indent="0">
              <a:buNone/>
            </a:pPr>
            <a:r>
              <a:rPr lang="en-US" sz="2200" b="1" dirty="0">
                <a:solidFill>
                  <a:srgbClr val="1F4E79"/>
                </a:solidFill>
                <a:latin typeface="Arial" pitchFamily="34" charset="0"/>
                <a:ea typeface="Arial" pitchFamily="34" charset="-122"/>
                <a:cs typeface="Arial" pitchFamily="34" charset="-120"/>
              </a:rPr>
              <a:t>The DCF rests on seven explicit assumptions, each anchored in reported data</a:t>
            </a:r>
            <a:endParaRPr lang="en-US" sz="2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3206496"/>
        </p:xfrm>
        <a:graphic>
          <a:graphicData uri="http://schemas.openxmlformats.org/drawingml/2006/table">
            <a:tbl>
              <a:tblPr/>
              <a:tblGrid>
                <a:gridCol w="27432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384048">
                <a:tc>
                  <a:txBody>
                    <a:bodyPr/>
                    <a:lstStyle/>
                    <a:p>
                      <a:pPr marL="0" indent="0">
                        <a:buNone/>
                      </a:pPr>
                      <a:r>
                        <a:rPr lang="en-US" sz="1400" b="1" dirty="0">
                          <a:solidFill>
                            <a:srgbClr val="FFFFFF"/>
                          </a:solidFill>
                          <a:latin typeface="Arial" pitchFamily="34" charset="0"/>
                          <a:ea typeface="Arial" pitchFamily="34" charset="-122"/>
                          <a:cs typeface="Arial" pitchFamily="34" charset="-120"/>
                        </a:rPr>
                        <a:t>Assumption</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solidFill>
                      <a:srgbClr val="1F4E79"/>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Base case</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solidFill>
                      <a:srgbClr val="1F4E79"/>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Basis</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384048">
                <a:tc>
                  <a:txBody>
                    <a:bodyPr/>
                    <a:lstStyle/>
                    <a:p>
                      <a:pPr marL="0" indent="0">
                        <a:buNone/>
                      </a:pPr>
                      <a:r>
                        <a:rPr lang="en-US" sz="1400" dirty="0">
                          <a:solidFill>
                            <a:srgbClr val="2D2D2D"/>
                          </a:solidFill>
                          <a:latin typeface="Arial" pitchFamily="34" charset="0"/>
                          <a:ea typeface="Arial" pitchFamily="34" charset="-122"/>
                          <a:cs typeface="Arial" pitchFamily="34" charset="-120"/>
                        </a:rPr>
                        <a:t>Revenue growth, FY27E to FY31E</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13.0% a year</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FY26 growth 13.2%; FY22 to FY26 CAGR 23.4%</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400" dirty="0">
                          <a:solidFill>
                            <a:srgbClr val="2D2D2D"/>
                          </a:solidFill>
                          <a:latin typeface="Arial" pitchFamily="34" charset="0"/>
                          <a:ea typeface="Arial" pitchFamily="34" charset="-122"/>
                          <a:cs typeface="Arial" pitchFamily="34" charset="-120"/>
                        </a:rPr>
                        <a:t>EBITDA margin</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64.7% to 57.2%</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Tapering decline from 68.5% in FY26</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400" dirty="0">
                          <a:solidFill>
                            <a:srgbClr val="2D2D2D"/>
                          </a:solidFill>
                          <a:latin typeface="Arial" pitchFamily="34" charset="0"/>
                          <a:ea typeface="Arial" pitchFamily="34" charset="-122"/>
                          <a:cs typeface="Arial" pitchFamily="34" charset="-120"/>
                        </a:rPr>
                        <a:t>D&amp;A / revenue</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3.94%</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FY22 to FY26 average</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400" dirty="0">
                          <a:solidFill>
                            <a:srgbClr val="2D2D2D"/>
                          </a:solidFill>
                          <a:latin typeface="Arial" pitchFamily="34" charset="0"/>
                          <a:ea typeface="Arial" pitchFamily="34" charset="-122"/>
                          <a:cs typeface="Arial" pitchFamily="34" charset="-120"/>
                        </a:rPr>
                        <a:t>Capex / revenue</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9.20%</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Average excluding FY23 outlier</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400" dirty="0">
                          <a:solidFill>
                            <a:srgbClr val="2D2D2D"/>
                          </a:solidFill>
                          <a:latin typeface="Arial" pitchFamily="34" charset="0"/>
                          <a:ea typeface="Arial" pitchFamily="34" charset="-122"/>
                          <a:cs typeface="Arial" pitchFamily="34" charset="-120"/>
                        </a:rPr>
                        <a:t>Tax rate</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25.17%</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Statutory rate in annual report</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400" dirty="0">
                          <a:solidFill>
                            <a:srgbClr val="2D2D2D"/>
                          </a:solidFill>
                          <a:latin typeface="Arial" pitchFamily="34" charset="0"/>
                          <a:ea typeface="Arial" pitchFamily="34" charset="-122"/>
                          <a:cs typeface="Arial" pitchFamily="34" charset="-120"/>
                        </a:rPr>
                        <a:t>WACC</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9.76%</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Rf 6.91%, beta 0.39, ERP 7.31%; debt-free</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400" dirty="0">
                          <a:solidFill>
                            <a:srgbClr val="2D2D2D"/>
                          </a:solidFill>
                          <a:latin typeface="Arial" pitchFamily="34" charset="0"/>
                          <a:ea typeface="Arial" pitchFamily="34" charset="-122"/>
                          <a:cs typeface="Arial" pitchFamily="34" charset="-120"/>
                        </a:rPr>
                        <a:t>Terminal growth</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5.0%</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Below both risk-free rate and WACC</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txBox="1"/>
          <p:nvPr/>
        </p:nvSpPr>
        <p:spPr>
          <a:xfrm>
            <a:off x="457200" y="4681728"/>
            <a:ext cx="7680960" cy="274320"/>
          </a:xfrm>
          <a:prstGeom prst="rect">
            <a:avLst/>
          </a:prstGeom>
          <a:noFill/>
          <a:ln/>
        </p:spPr>
        <p:txBody>
          <a:bodyPr wrap="square" lIns="0" tIns="0" rIns="0" bIns="0" rtlCol="0" anchor="ctr"/>
          <a:lstStyle/>
          <a:p>
            <a:pPr marL="0" indent="0">
              <a:buNone/>
            </a:pPr>
            <a:r>
              <a:rPr lang="en-US" sz="1200" dirty="0">
                <a:solidFill>
                  <a:srgbClr val="6B6B6B"/>
                </a:solidFill>
                <a:latin typeface="Arial" pitchFamily="34" charset="0"/>
                <a:ea typeface="Arial" pitchFamily="34" charset="-122"/>
                <a:cs typeface="Arial" pitchFamily="34" charset="-120"/>
              </a:rPr>
              <a:t>Source: FSF Project 4 assumptions; Damodaran (2026) for ERP; Yahoo Finance (2026) for beta.</a:t>
            </a:r>
            <a:endParaRPr lang="en-US" sz="1200" dirty="0"/>
          </a:p>
        </p:txBody>
      </p:sp>
      <p:sp>
        <p:nvSpPr>
          <p:cNvPr id="25" name="Slide Number Placeholder 0"/>
          <p:cNvSpPr>
            <a:spLocks noGrp="1"/>
          </p:cNvSpPr>
          <p:nvPr>
            <p:ph type="sldNum" sz="quarter" idx="4294967295"/>
          </p:nvPr>
        </p:nvSpPr>
        <p:spPr>
          <a:xfrm>
            <a:off x="8321040" y="4709160"/>
            <a:ext cx="365760" cy="2286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6B6B"/>
                </a:solidFill>
                <a:latin typeface="Arial"/>
                <a:ea typeface="Arial"/>
                <a:cs typeface="Aria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37160"/>
            <a:ext cx="8229600" cy="274320"/>
          </a:xfrm>
          <a:prstGeom prst="rect">
            <a:avLst/>
          </a:prstGeom>
          <a:noFill/>
          <a:ln/>
        </p:spPr>
        <p:txBody>
          <a:bodyPr wrap="square" lIns="0" tIns="0" rIns="0" bIns="0" rtlCol="0" anchor="ctr"/>
          <a:lstStyle/>
          <a:p>
            <a:pPr marL="0" indent="0">
              <a:buNone/>
            </a:pPr>
            <a:r>
              <a:rPr lang="en-US" sz="1400" i="1" dirty="0">
                <a:solidFill>
                  <a:srgbClr val="6B6B6B"/>
                </a:solidFill>
                <a:latin typeface="Arial" pitchFamily="34" charset="0"/>
                <a:ea typeface="Arial" pitchFamily="34" charset="-122"/>
                <a:cs typeface="Arial" pitchFamily="34" charset="-120"/>
              </a:rPr>
              <a:t>Appendix D: Risk register</a:t>
            </a:r>
            <a:endParaRPr lang="en-US" sz="1400" dirty="0"/>
          </a:p>
        </p:txBody>
      </p:sp>
      <p:sp>
        <p:nvSpPr>
          <p:cNvPr id="3" name="Text 1"/>
          <p:cNvSpPr txBox="1"/>
          <p:nvPr/>
        </p:nvSpPr>
        <p:spPr>
          <a:xfrm>
            <a:off x="457200" y="457200"/>
            <a:ext cx="8229600" cy="822960"/>
          </a:xfrm>
          <a:prstGeom prst="rect">
            <a:avLst/>
          </a:prstGeom>
          <a:noFill/>
          <a:ln/>
        </p:spPr>
        <p:txBody>
          <a:bodyPr wrap="square" lIns="0" tIns="0" rIns="0" bIns="0" rtlCol="0" anchor="t"/>
          <a:lstStyle/>
          <a:p>
            <a:pPr marL="0" indent="0">
              <a:buNone/>
            </a:pPr>
            <a:r>
              <a:rPr lang="en-US" sz="2200" b="1" dirty="0">
                <a:solidFill>
                  <a:srgbClr val="1F4E79"/>
                </a:solidFill>
                <a:latin typeface="Arial" pitchFamily="34" charset="0"/>
                <a:ea typeface="Arial" pitchFamily="34" charset="-122"/>
                <a:cs typeface="Arial" pitchFamily="34" charset="-120"/>
              </a:rPr>
              <a:t>Margin compression and excessive valuation are the highest-probability, highest-impact risks</a:t>
            </a:r>
            <a:endParaRPr lang="en-US" sz="2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2865120"/>
        </p:xfrm>
        <a:graphic>
          <a:graphicData uri="http://schemas.openxmlformats.org/drawingml/2006/table">
            <a:tbl>
              <a:tblPr/>
              <a:tblGrid>
                <a:gridCol w="21031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3931920">
                  <a:extLst>
                    <a:ext uri="{9D8B030D-6E8A-4147-A177-3AD203B41FA5}">
                      <a16:colId xmlns:a16="http://schemas.microsoft.com/office/drawing/2014/main" val="20003"/>
                    </a:ext>
                  </a:extLst>
                </a:gridCol>
              </a:tblGrid>
              <a:tr h="457200">
                <a:tc>
                  <a:txBody>
                    <a:bodyPr/>
                    <a:lstStyle/>
                    <a:p>
                      <a:pPr marL="0" indent="0">
                        <a:buNone/>
                      </a:pPr>
                      <a:r>
                        <a:rPr lang="en-US" sz="1400" b="1" dirty="0">
                          <a:solidFill>
                            <a:srgbClr val="FFFFFF"/>
                          </a:solidFill>
                          <a:latin typeface="Arial" pitchFamily="34" charset="0"/>
                          <a:ea typeface="Arial" pitchFamily="34" charset="-122"/>
                          <a:cs typeface="Arial" pitchFamily="34" charset="-120"/>
                        </a:rPr>
                        <a:t>Risk</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solidFill>
                      <a:srgbClr val="1F4E79"/>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Probability</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solidFill>
                      <a:srgbClr val="1F4E79"/>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Impact</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solidFill>
                      <a:srgbClr val="1F4E79"/>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Response</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457200">
                <a:tc>
                  <a:txBody>
                    <a:bodyPr/>
                    <a:lstStyle/>
                    <a:p>
                      <a:pPr marL="0" indent="0">
                        <a:buNone/>
                      </a:pPr>
                      <a:r>
                        <a:rPr lang="en-US" sz="1400" dirty="0">
                          <a:solidFill>
                            <a:srgbClr val="2D2D2D"/>
                          </a:solidFill>
                          <a:latin typeface="Arial" pitchFamily="34" charset="0"/>
                          <a:ea typeface="Arial" pitchFamily="34" charset="-122"/>
                          <a:cs typeface="Arial" pitchFamily="34" charset="-120"/>
                        </a:rPr>
                        <a:t>Margin compression</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High</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High</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Monitor employee, technology and depreciation costs</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400" dirty="0">
                          <a:solidFill>
                            <a:srgbClr val="2D2D2D"/>
                          </a:solidFill>
                          <a:latin typeface="Arial" pitchFamily="34" charset="0"/>
                          <a:ea typeface="Arial" pitchFamily="34" charset="-122"/>
                          <a:cs typeface="Arial" pitchFamily="34" charset="-120"/>
                        </a:rPr>
                        <a:t>Excessive valuation</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High</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High</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Keep a margin of safety</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400" dirty="0">
                          <a:solidFill>
                            <a:srgbClr val="2D2D2D"/>
                          </a:solidFill>
                          <a:latin typeface="Arial" pitchFamily="34" charset="0"/>
                          <a:ea typeface="Arial" pitchFamily="34" charset="-122"/>
                          <a:cs typeface="Arial" pitchFamily="34" charset="-120"/>
                        </a:rPr>
                        <a:t>Regulatory changes</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Medium</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High</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Diversify revenue; monitor SEBI policy</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400" dirty="0">
                          <a:solidFill>
                            <a:srgbClr val="2D2D2D"/>
                          </a:solidFill>
                          <a:latin typeface="Arial" pitchFamily="34" charset="0"/>
                          <a:ea typeface="Arial" pitchFamily="34" charset="-122"/>
                          <a:cs typeface="Arial" pitchFamily="34" charset="-120"/>
                        </a:rPr>
                        <a:t>Growth slowdown</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Medium</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High</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Expand unlisted, KRA and insurance repositories</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400" dirty="0">
                          <a:solidFill>
                            <a:srgbClr val="2D2D2D"/>
                          </a:solidFill>
                          <a:latin typeface="Arial" pitchFamily="34" charset="0"/>
                          <a:ea typeface="Arial" pitchFamily="34" charset="-122"/>
                          <a:cs typeface="Arial" pitchFamily="34" charset="-120"/>
                        </a:rPr>
                        <a:t>Competition</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Medium</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Medium</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tc>
                  <a:txBody>
                    <a:bodyPr/>
                    <a:lstStyle/>
                    <a:p>
                      <a:pPr marL="0" indent="0">
                        <a:buNone/>
                      </a:pPr>
                      <a:r>
                        <a:rPr lang="en-US" sz="1400" dirty="0">
                          <a:solidFill>
                            <a:srgbClr val="2D2D2D"/>
                          </a:solidFill>
                          <a:latin typeface="Arial" pitchFamily="34" charset="0"/>
                          <a:ea typeface="Arial" pitchFamily="34" charset="-122"/>
                          <a:cs typeface="Arial" pitchFamily="34" charset="-120"/>
                        </a:rPr>
                        <a:t>Sustain technology leadership against NSDL</a:t>
                      </a:r>
                      <a:endParaRPr lang="en-US" sz="1400" dirty="0">
                        <a:latin typeface="Arial" charset="0"/>
                        <a:ea typeface="Arial" charset="0"/>
                        <a:cs typeface="Arial" charset="0"/>
                      </a:endParaRPr>
                    </a:p>
                  </a:txBody>
                  <a:tcPr anchor="ctr">
                    <a:lnL w="6350" cap="flat" cmpd="sng" algn="ctr">
                      <a:solidFill>
                        <a:srgbClr val="C9D6E4"/>
                      </a:solidFill>
                      <a:prstDash val="solid"/>
                      <a:round/>
                      <a:headEnd type="none" w="med" len="med"/>
                      <a:tailEnd type="none" w="med" len="med"/>
                    </a:lnL>
                    <a:lnR w="6350" cap="flat" cmpd="sng" algn="ctr">
                      <a:solidFill>
                        <a:srgbClr val="C9D6E4"/>
                      </a:solidFill>
                      <a:prstDash val="solid"/>
                      <a:round/>
                      <a:headEnd type="none" w="med" len="med"/>
                      <a:tailEnd type="none" w="med" len="med"/>
                    </a:lnR>
                    <a:lnT w="6350" cap="flat" cmpd="sng" algn="ctr">
                      <a:solidFill>
                        <a:srgbClr val="C9D6E4"/>
                      </a:solidFill>
                      <a:prstDash val="solid"/>
                      <a:round/>
                      <a:headEnd type="none" w="med" len="med"/>
                      <a:tailEnd type="none" w="med" len="med"/>
                    </a:lnT>
                    <a:lnB w="6350" cap="flat" cmpd="sng" algn="ctr">
                      <a:solidFill>
                        <a:srgbClr val="C9D6E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txBox="1"/>
          <p:nvPr/>
        </p:nvSpPr>
        <p:spPr>
          <a:xfrm>
            <a:off x="457200" y="4681728"/>
            <a:ext cx="7680960" cy="274320"/>
          </a:xfrm>
          <a:prstGeom prst="rect">
            <a:avLst/>
          </a:prstGeom>
          <a:noFill/>
          <a:ln/>
        </p:spPr>
        <p:txBody>
          <a:bodyPr wrap="square" lIns="0" tIns="0" rIns="0" bIns="0" rtlCol="0" anchor="ctr"/>
          <a:lstStyle/>
          <a:p>
            <a:pPr marL="0" indent="0">
              <a:buNone/>
            </a:pPr>
            <a:r>
              <a:rPr lang="en-US" sz="1200" dirty="0">
                <a:solidFill>
                  <a:srgbClr val="6B6B6B"/>
                </a:solidFill>
                <a:latin typeface="Arial" pitchFamily="34" charset="0"/>
                <a:ea typeface="Arial" pitchFamily="34" charset="-122"/>
                <a:cs typeface="Arial" pitchFamily="34" charset="-120"/>
              </a:rPr>
              <a:t>Source: FSF Project 5 (bear thesis and risk assessment).</a:t>
            </a:r>
            <a:endParaRPr lang="en-US" sz="1200" dirty="0"/>
          </a:p>
        </p:txBody>
      </p:sp>
      <p:sp>
        <p:nvSpPr>
          <p:cNvPr id="25" name="Slide Number Placeholder 0"/>
          <p:cNvSpPr>
            <a:spLocks noGrp="1"/>
          </p:cNvSpPr>
          <p:nvPr>
            <p:ph type="sldNum" sz="quarter" idx="4294967295"/>
          </p:nvPr>
        </p:nvSpPr>
        <p:spPr>
          <a:xfrm>
            <a:off x="8321040" y="4709160"/>
            <a:ext cx="365760" cy="2286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6B6B"/>
                </a:solidFill>
                <a:latin typeface="Arial"/>
                <a:ea typeface="Arial"/>
                <a:cs typeface="Arial"/>
              </a:defRPr>
            </a:lvl1pPr>
          </a:lstStyle>
          <a:p>
            <a:pPr algn="r"/>
            <a:fld id="{F7021451-1387-4CA6-816F-3879F97B5CBC}" type="slidenum">
              <a:rPr lang="en-US" b="0"/>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1626</Words>
  <Application>Microsoft Office PowerPoint</Application>
  <PresentationFormat>On-screen Show (16:9)</PresentationFormat>
  <Paragraphs>216</Paragraphs>
  <Slides>16</Slides>
  <Notes>16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16</vt:i4>
      </vt:variant>
    </vt:vector>
  </HeadingPairs>
  <TitlesOfParts>
    <vt:vector size="18"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CDSL Equity Research Pitch</dc:title>
  <dc:subject>PptxGenJS Presentation</dc:subject>
  <dc:creator>Varad Srivastava</dc:creator>
  <cp:lastModifiedBy>Varad Srivastava</cp:lastModifiedBy>
  <cp:revision>3</cp:revision>
  <dcterms:created xsi:type="dcterms:W3CDTF">2026-09-20T07:27:46Z</dcterms:created>
  <dcterms:modified xsi:type="dcterms:W3CDTF">2026-09-20T08:25:45Z</dcterms:modified>
</cp:coreProperties>
</file>